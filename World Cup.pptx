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2"/>
    <p:sldMasterId id="2147483673" r:id="rId3"/>
  </p:sldMasterIdLst>
  <p:notesMasterIdLst>
    <p:notesMasterId r:id="rId13"/>
  </p:notesMasterIdLst>
  <p:sldIdLst>
    <p:sldId id="257" r:id="rId4"/>
    <p:sldId id="258" r:id="rId5"/>
    <p:sldId id="259" r:id="rId6"/>
    <p:sldId id="269" r:id="rId7"/>
    <p:sldId id="275" r:id="rId8"/>
    <p:sldId id="277" r:id="rId9"/>
    <p:sldId id="276" r:id="rId10"/>
    <p:sldId id="273" r:id="rId11"/>
    <p:sldId id="271"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1" d="100"/>
          <a:sy n="91" d="100"/>
        </p:scale>
        <p:origin x="-672" y="-1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notesMaster" Target="notesMasters/notesMaster1.xml"/><Relationship Id="rId14" Type="http://schemas.openxmlformats.org/officeDocument/2006/relationships/printerSettings" Target="printerSettings/printerSettings1.bin"/><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oleObject" Target="adar:Users:adar:Documents:School:ComputerScience:SENG474:Project:SubsetData.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adar:Users:adar:Documents:School:ComputerScience:SENG474:Project:SubsetData.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adar:Users:adar:Documents:School:ComputerScience:SENG474:Project:SubsetData.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adar:Users:adar:Documents:School:ComputerScience:SENG474:Project:SubsetData.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col"/>
        <c:grouping val="clustered"/>
        <c:varyColors val="0"/>
        <c:ser>
          <c:idx val="0"/>
          <c:order val="0"/>
          <c:tx>
            <c:strRef>
              <c:f>Charts2!$H$1</c:f>
              <c:strCache>
                <c:ptCount val="1"/>
                <c:pt idx="0">
                  <c:v>Naive Bayes</c:v>
                </c:pt>
              </c:strCache>
            </c:strRef>
          </c:tx>
          <c:invertIfNegative val="0"/>
          <c:val>
            <c:numRef>
              <c:f>Charts2!$H$2:$H$14</c:f>
              <c:numCache>
                <c:formatCode>0.00%</c:formatCode>
                <c:ptCount val="13"/>
                <c:pt idx="0">
                  <c:v>0.9446</c:v>
                </c:pt>
                <c:pt idx="1">
                  <c:v>0.8975</c:v>
                </c:pt>
                <c:pt idx="2">
                  <c:v>0.8366</c:v>
                </c:pt>
                <c:pt idx="3">
                  <c:v>0.7922</c:v>
                </c:pt>
                <c:pt idx="4">
                  <c:v>0.7424</c:v>
                </c:pt>
                <c:pt idx="5">
                  <c:v>0.7147</c:v>
                </c:pt>
                <c:pt idx="6">
                  <c:v>0.6648</c:v>
                </c:pt>
                <c:pt idx="7">
                  <c:v>0.6177</c:v>
                </c:pt>
                <c:pt idx="8">
                  <c:v>0.5679</c:v>
                </c:pt>
                <c:pt idx="9">
                  <c:v>0.5152</c:v>
                </c:pt>
                <c:pt idx="10">
                  <c:v>0.4626</c:v>
                </c:pt>
                <c:pt idx="11">
                  <c:v>0.4044</c:v>
                </c:pt>
                <c:pt idx="12">
                  <c:v>0.3629</c:v>
                </c:pt>
              </c:numCache>
            </c:numRef>
          </c:val>
        </c:ser>
        <c:ser>
          <c:idx val="1"/>
          <c:order val="1"/>
          <c:tx>
            <c:strRef>
              <c:f>Charts2!$I$1</c:f>
              <c:strCache>
                <c:ptCount val="1"/>
                <c:pt idx="0">
                  <c:v>J48</c:v>
                </c:pt>
              </c:strCache>
            </c:strRef>
          </c:tx>
          <c:invertIfNegative val="0"/>
          <c:val>
            <c:numRef>
              <c:f>Charts2!$I$2:$I$14</c:f>
              <c:numCache>
                <c:formatCode>0.00%</c:formatCode>
                <c:ptCount val="13"/>
                <c:pt idx="0">
                  <c:v>0.9501</c:v>
                </c:pt>
                <c:pt idx="1">
                  <c:v>0.9003</c:v>
                </c:pt>
                <c:pt idx="2">
                  <c:v>0.8504</c:v>
                </c:pt>
                <c:pt idx="3">
                  <c:v>0.8006</c:v>
                </c:pt>
                <c:pt idx="4">
                  <c:v>0.7507</c:v>
                </c:pt>
                <c:pt idx="5">
                  <c:v>0.7008</c:v>
                </c:pt>
                <c:pt idx="6">
                  <c:v>0.651</c:v>
                </c:pt>
                <c:pt idx="7">
                  <c:v>0.6011</c:v>
                </c:pt>
                <c:pt idx="8">
                  <c:v>0.5457</c:v>
                </c:pt>
                <c:pt idx="9">
                  <c:v>0.4958</c:v>
                </c:pt>
                <c:pt idx="10">
                  <c:v>0.4515</c:v>
                </c:pt>
                <c:pt idx="11">
                  <c:v>0.3934</c:v>
                </c:pt>
                <c:pt idx="12">
                  <c:v>0.349</c:v>
                </c:pt>
              </c:numCache>
            </c:numRef>
          </c:val>
        </c:ser>
        <c:ser>
          <c:idx val="2"/>
          <c:order val="2"/>
          <c:tx>
            <c:strRef>
              <c:f>Charts2!$J$1</c:f>
              <c:strCache>
                <c:ptCount val="1"/>
                <c:pt idx="0">
                  <c:v>Random Tr.</c:v>
                </c:pt>
              </c:strCache>
            </c:strRef>
          </c:tx>
          <c:invertIfNegative val="0"/>
          <c:val>
            <c:numRef>
              <c:f>Charts2!$J$2:$J$14</c:f>
              <c:numCache>
                <c:formatCode>0.00%</c:formatCode>
                <c:ptCount val="13"/>
                <c:pt idx="0">
                  <c:v>0.9224</c:v>
                </c:pt>
                <c:pt idx="1">
                  <c:v>0.8421</c:v>
                </c:pt>
                <c:pt idx="2">
                  <c:v>0.7729</c:v>
                </c:pt>
                <c:pt idx="3">
                  <c:v>0.7036</c:v>
                </c:pt>
                <c:pt idx="4">
                  <c:v>0.6565</c:v>
                </c:pt>
                <c:pt idx="5">
                  <c:v>0.5873</c:v>
                </c:pt>
                <c:pt idx="6">
                  <c:v>0.5402</c:v>
                </c:pt>
                <c:pt idx="7">
                  <c:v>0.4765</c:v>
                </c:pt>
                <c:pt idx="8">
                  <c:v>0.4377</c:v>
                </c:pt>
                <c:pt idx="9">
                  <c:v>0.3961</c:v>
                </c:pt>
                <c:pt idx="10">
                  <c:v>0.3518</c:v>
                </c:pt>
                <c:pt idx="11">
                  <c:v>0.2964</c:v>
                </c:pt>
                <c:pt idx="12">
                  <c:v>0.2438</c:v>
                </c:pt>
              </c:numCache>
            </c:numRef>
          </c:val>
        </c:ser>
        <c:ser>
          <c:idx val="3"/>
          <c:order val="3"/>
          <c:tx>
            <c:strRef>
              <c:f>Charts2!$K$1</c:f>
              <c:strCache>
                <c:ptCount val="1"/>
                <c:pt idx="0">
                  <c:v>ML Percept.</c:v>
                </c:pt>
              </c:strCache>
            </c:strRef>
          </c:tx>
          <c:invertIfNegative val="0"/>
          <c:val>
            <c:numRef>
              <c:f>Charts2!$K$2:$K$14</c:f>
              <c:numCache>
                <c:formatCode>0.00%</c:formatCode>
                <c:ptCount val="13"/>
                <c:pt idx="0">
                  <c:v>0.9335</c:v>
                </c:pt>
                <c:pt idx="1">
                  <c:v>0.8643</c:v>
                </c:pt>
                <c:pt idx="2">
                  <c:v>0.8033</c:v>
                </c:pt>
                <c:pt idx="3">
                  <c:v>0.7479</c:v>
                </c:pt>
                <c:pt idx="4">
                  <c:v>0.6898</c:v>
                </c:pt>
                <c:pt idx="5" formatCode="0%">
                  <c:v>0.59</c:v>
                </c:pt>
                <c:pt idx="6">
                  <c:v>0.5789</c:v>
                </c:pt>
                <c:pt idx="7">
                  <c:v>0.5208</c:v>
                </c:pt>
                <c:pt idx="8">
                  <c:v>0.4875</c:v>
                </c:pt>
                <c:pt idx="9">
                  <c:v>0.4488</c:v>
                </c:pt>
                <c:pt idx="10">
                  <c:v>0.3795</c:v>
                </c:pt>
                <c:pt idx="11">
                  <c:v>0.3795</c:v>
                </c:pt>
                <c:pt idx="12">
                  <c:v>0.2798</c:v>
                </c:pt>
              </c:numCache>
            </c:numRef>
          </c:val>
        </c:ser>
        <c:dLbls>
          <c:showLegendKey val="0"/>
          <c:showVal val="0"/>
          <c:showCatName val="0"/>
          <c:showSerName val="0"/>
          <c:showPercent val="0"/>
          <c:showBubbleSize val="0"/>
        </c:dLbls>
        <c:gapWidth val="150"/>
        <c:axId val="2119695304"/>
        <c:axId val="2119862936"/>
      </c:barChart>
      <c:catAx>
        <c:axId val="2119695304"/>
        <c:scaling>
          <c:orientation val="minMax"/>
        </c:scaling>
        <c:delete val="0"/>
        <c:axPos val="b"/>
        <c:majorTickMark val="out"/>
        <c:minorTickMark val="none"/>
        <c:tickLblPos val="nextTo"/>
        <c:crossAx val="2119862936"/>
        <c:crosses val="autoZero"/>
        <c:auto val="1"/>
        <c:lblAlgn val="ctr"/>
        <c:lblOffset val="100"/>
        <c:noMultiLvlLbl val="0"/>
      </c:catAx>
      <c:valAx>
        <c:axId val="2119862936"/>
        <c:scaling>
          <c:orientation val="minMax"/>
        </c:scaling>
        <c:delete val="0"/>
        <c:axPos val="l"/>
        <c:majorGridlines/>
        <c:numFmt formatCode="0.00%" sourceLinked="1"/>
        <c:majorTickMark val="out"/>
        <c:minorTickMark val="none"/>
        <c:tickLblPos val="nextTo"/>
        <c:crossAx val="2119695304"/>
        <c:crosses val="autoZero"/>
        <c:crossBetween val="between"/>
      </c:valAx>
    </c:plotArea>
    <c:legend>
      <c:legendPos val="r"/>
      <c:layout/>
      <c:overlay val="0"/>
    </c:legend>
    <c:plotVisOnly val="1"/>
    <c:dispBlanksAs val="gap"/>
    <c:showDLblsOverMax val="0"/>
  </c:chart>
  <c:txPr>
    <a:bodyPr/>
    <a:lstStyle/>
    <a:p>
      <a:pPr>
        <a:defRPr>
          <a:solidFill>
            <a:srgbClr val="000000"/>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lineChart>
        <c:grouping val="standard"/>
        <c:varyColors val="0"/>
        <c:ser>
          <c:idx val="0"/>
          <c:order val="0"/>
          <c:tx>
            <c:strRef>
              <c:f>Charts2!$H$1</c:f>
              <c:strCache>
                <c:ptCount val="1"/>
                <c:pt idx="0">
                  <c:v>Naive Bayes</c:v>
                </c:pt>
              </c:strCache>
            </c:strRef>
          </c:tx>
          <c:marker>
            <c:symbol val="square"/>
            <c:size val="5"/>
          </c:marker>
          <c:val>
            <c:numRef>
              <c:f>Charts2!$H$2:$H$14</c:f>
              <c:numCache>
                <c:formatCode>0.00%</c:formatCode>
                <c:ptCount val="13"/>
                <c:pt idx="0">
                  <c:v>0.9446</c:v>
                </c:pt>
                <c:pt idx="1">
                  <c:v>0.8975</c:v>
                </c:pt>
                <c:pt idx="2">
                  <c:v>0.8366</c:v>
                </c:pt>
                <c:pt idx="3">
                  <c:v>0.7922</c:v>
                </c:pt>
                <c:pt idx="4">
                  <c:v>0.7424</c:v>
                </c:pt>
                <c:pt idx="5">
                  <c:v>0.7147</c:v>
                </c:pt>
                <c:pt idx="6">
                  <c:v>0.6648</c:v>
                </c:pt>
                <c:pt idx="7">
                  <c:v>0.6177</c:v>
                </c:pt>
                <c:pt idx="8">
                  <c:v>0.5679</c:v>
                </c:pt>
                <c:pt idx="9">
                  <c:v>0.5152</c:v>
                </c:pt>
                <c:pt idx="10">
                  <c:v>0.4626</c:v>
                </c:pt>
                <c:pt idx="11">
                  <c:v>0.4044</c:v>
                </c:pt>
                <c:pt idx="12">
                  <c:v>0.3629</c:v>
                </c:pt>
              </c:numCache>
            </c:numRef>
          </c:val>
          <c:smooth val="0"/>
        </c:ser>
        <c:ser>
          <c:idx val="1"/>
          <c:order val="1"/>
          <c:tx>
            <c:strRef>
              <c:f>Charts2!$I$1</c:f>
              <c:strCache>
                <c:ptCount val="1"/>
                <c:pt idx="0">
                  <c:v>J48</c:v>
                </c:pt>
              </c:strCache>
            </c:strRef>
          </c:tx>
          <c:marker>
            <c:symbol val="circle"/>
            <c:size val="5"/>
          </c:marker>
          <c:val>
            <c:numRef>
              <c:f>Charts2!$I$2:$I$14</c:f>
              <c:numCache>
                <c:formatCode>0.00%</c:formatCode>
                <c:ptCount val="13"/>
                <c:pt idx="0">
                  <c:v>0.9501</c:v>
                </c:pt>
                <c:pt idx="1">
                  <c:v>0.9003</c:v>
                </c:pt>
                <c:pt idx="2">
                  <c:v>0.8504</c:v>
                </c:pt>
                <c:pt idx="3">
                  <c:v>0.8006</c:v>
                </c:pt>
                <c:pt idx="4">
                  <c:v>0.7507</c:v>
                </c:pt>
                <c:pt idx="5">
                  <c:v>0.7008</c:v>
                </c:pt>
                <c:pt idx="6">
                  <c:v>0.651</c:v>
                </c:pt>
                <c:pt idx="7">
                  <c:v>0.6011</c:v>
                </c:pt>
                <c:pt idx="8">
                  <c:v>0.5457</c:v>
                </c:pt>
                <c:pt idx="9">
                  <c:v>0.4958</c:v>
                </c:pt>
                <c:pt idx="10">
                  <c:v>0.4515</c:v>
                </c:pt>
                <c:pt idx="11">
                  <c:v>0.3934</c:v>
                </c:pt>
                <c:pt idx="12">
                  <c:v>0.349</c:v>
                </c:pt>
              </c:numCache>
            </c:numRef>
          </c:val>
          <c:smooth val="0"/>
        </c:ser>
        <c:ser>
          <c:idx val="2"/>
          <c:order val="2"/>
          <c:tx>
            <c:strRef>
              <c:f>Charts2!$J$1</c:f>
              <c:strCache>
                <c:ptCount val="1"/>
                <c:pt idx="0">
                  <c:v>Random Tr.</c:v>
                </c:pt>
              </c:strCache>
            </c:strRef>
          </c:tx>
          <c:marker>
            <c:symbol val="diamond"/>
            <c:size val="5"/>
          </c:marker>
          <c:val>
            <c:numRef>
              <c:f>Charts2!$J$2:$J$14</c:f>
              <c:numCache>
                <c:formatCode>0.00%</c:formatCode>
                <c:ptCount val="13"/>
                <c:pt idx="0">
                  <c:v>0.9224</c:v>
                </c:pt>
                <c:pt idx="1">
                  <c:v>0.8421</c:v>
                </c:pt>
                <c:pt idx="2">
                  <c:v>0.7729</c:v>
                </c:pt>
                <c:pt idx="3">
                  <c:v>0.7036</c:v>
                </c:pt>
                <c:pt idx="4">
                  <c:v>0.6565</c:v>
                </c:pt>
                <c:pt idx="5">
                  <c:v>0.5873</c:v>
                </c:pt>
                <c:pt idx="6">
                  <c:v>0.5402</c:v>
                </c:pt>
                <c:pt idx="7">
                  <c:v>0.4765</c:v>
                </c:pt>
                <c:pt idx="8">
                  <c:v>0.4377</c:v>
                </c:pt>
                <c:pt idx="9">
                  <c:v>0.3961</c:v>
                </c:pt>
                <c:pt idx="10">
                  <c:v>0.3518</c:v>
                </c:pt>
                <c:pt idx="11">
                  <c:v>0.2964</c:v>
                </c:pt>
                <c:pt idx="12">
                  <c:v>0.2438</c:v>
                </c:pt>
              </c:numCache>
            </c:numRef>
          </c:val>
          <c:smooth val="0"/>
        </c:ser>
        <c:ser>
          <c:idx val="3"/>
          <c:order val="3"/>
          <c:tx>
            <c:strRef>
              <c:f>Charts2!$K$1</c:f>
              <c:strCache>
                <c:ptCount val="1"/>
                <c:pt idx="0">
                  <c:v>ML Percept.</c:v>
                </c:pt>
              </c:strCache>
            </c:strRef>
          </c:tx>
          <c:marker>
            <c:symbol val="triangle"/>
            <c:size val="5"/>
          </c:marker>
          <c:val>
            <c:numRef>
              <c:f>Charts2!$K$2:$K$14</c:f>
              <c:numCache>
                <c:formatCode>0.00%</c:formatCode>
                <c:ptCount val="13"/>
                <c:pt idx="0">
                  <c:v>0.9335</c:v>
                </c:pt>
                <c:pt idx="1">
                  <c:v>0.8643</c:v>
                </c:pt>
                <c:pt idx="2">
                  <c:v>0.8033</c:v>
                </c:pt>
                <c:pt idx="3">
                  <c:v>0.7479</c:v>
                </c:pt>
                <c:pt idx="4">
                  <c:v>0.6898</c:v>
                </c:pt>
                <c:pt idx="5" formatCode="0%">
                  <c:v>0.59</c:v>
                </c:pt>
                <c:pt idx="6">
                  <c:v>0.5789</c:v>
                </c:pt>
                <c:pt idx="7">
                  <c:v>0.5208</c:v>
                </c:pt>
                <c:pt idx="8">
                  <c:v>0.4875</c:v>
                </c:pt>
                <c:pt idx="9">
                  <c:v>0.4488</c:v>
                </c:pt>
                <c:pt idx="10">
                  <c:v>0.3795</c:v>
                </c:pt>
                <c:pt idx="11">
                  <c:v>0.3795</c:v>
                </c:pt>
                <c:pt idx="12">
                  <c:v>0.2798</c:v>
                </c:pt>
              </c:numCache>
            </c:numRef>
          </c:val>
          <c:smooth val="0"/>
        </c:ser>
        <c:dLbls>
          <c:showLegendKey val="0"/>
          <c:showVal val="0"/>
          <c:showCatName val="0"/>
          <c:showSerName val="0"/>
          <c:showPercent val="0"/>
          <c:showBubbleSize val="0"/>
        </c:dLbls>
        <c:marker val="1"/>
        <c:smooth val="0"/>
        <c:axId val="2139981032"/>
        <c:axId val="2139984120"/>
      </c:lineChart>
      <c:catAx>
        <c:axId val="2139981032"/>
        <c:scaling>
          <c:orientation val="minMax"/>
        </c:scaling>
        <c:delete val="0"/>
        <c:axPos val="b"/>
        <c:majorTickMark val="out"/>
        <c:minorTickMark val="none"/>
        <c:tickLblPos val="nextTo"/>
        <c:crossAx val="2139984120"/>
        <c:crosses val="autoZero"/>
        <c:auto val="1"/>
        <c:lblAlgn val="ctr"/>
        <c:lblOffset val="100"/>
        <c:noMultiLvlLbl val="0"/>
      </c:catAx>
      <c:valAx>
        <c:axId val="2139984120"/>
        <c:scaling>
          <c:orientation val="minMax"/>
        </c:scaling>
        <c:delete val="0"/>
        <c:axPos val="l"/>
        <c:majorGridlines/>
        <c:numFmt formatCode="0.00%" sourceLinked="1"/>
        <c:majorTickMark val="out"/>
        <c:minorTickMark val="none"/>
        <c:tickLblPos val="nextTo"/>
        <c:crossAx val="2139981032"/>
        <c:crosses val="autoZero"/>
        <c:crossBetween val="between"/>
      </c:valAx>
    </c:plotArea>
    <c:legend>
      <c:legendPos val="r"/>
      <c:layout/>
      <c:overlay val="0"/>
    </c:legend>
    <c:plotVisOnly val="1"/>
    <c:dispBlanksAs val="gap"/>
    <c:showDLblsOverMax val="0"/>
  </c:chart>
  <c:txPr>
    <a:bodyPr/>
    <a:lstStyle/>
    <a:p>
      <a:pPr>
        <a:defRPr>
          <a:solidFill>
            <a:srgbClr val="000000"/>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bar"/>
        <c:grouping val="clustered"/>
        <c:varyColors val="0"/>
        <c:ser>
          <c:idx val="0"/>
          <c:order val="0"/>
          <c:tx>
            <c:strRef>
              <c:f>Charts!$B$1</c:f>
              <c:strCache>
                <c:ptCount val="1"/>
                <c:pt idx="0">
                  <c:v>J48</c:v>
                </c:pt>
              </c:strCache>
            </c:strRef>
          </c:tx>
          <c:invertIfNegative val="0"/>
          <c:cat>
            <c:strRef>
              <c:f>Charts!$A$2:$A$10</c:f>
              <c:strCache>
                <c:ptCount val="9"/>
                <c:pt idx="0">
                  <c:v>GFAvg</c:v>
                </c:pt>
                <c:pt idx="1">
                  <c:v>GAAvg</c:v>
                </c:pt>
                <c:pt idx="2">
                  <c:v>Penalties</c:v>
                </c:pt>
                <c:pt idx="3">
                  <c:v>ShotsOn</c:v>
                </c:pt>
                <c:pt idx="4">
                  <c:v>ShotsWide</c:v>
                </c:pt>
                <c:pt idx="5">
                  <c:v>FreeKicks</c:v>
                </c:pt>
                <c:pt idx="6">
                  <c:v>Offside</c:v>
                </c:pt>
                <c:pt idx="7">
                  <c:v>Corners</c:v>
                </c:pt>
                <c:pt idx="8">
                  <c:v>ALL</c:v>
                </c:pt>
              </c:strCache>
            </c:strRef>
          </c:cat>
          <c:val>
            <c:numRef>
              <c:f>Charts!$B$2:$B$10</c:f>
              <c:numCache>
                <c:formatCode>General</c:formatCode>
                <c:ptCount val="9"/>
                <c:pt idx="0">
                  <c:v>63.28</c:v>
                </c:pt>
                <c:pt idx="1">
                  <c:v>60.94</c:v>
                </c:pt>
                <c:pt idx="2">
                  <c:v>63.28</c:v>
                </c:pt>
                <c:pt idx="3">
                  <c:v>63.28</c:v>
                </c:pt>
                <c:pt idx="4">
                  <c:v>63.28</c:v>
                </c:pt>
                <c:pt idx="5">
                  <c:v>63.28</c:v>
                </c:pt>
                <c:pt idx="6">
                  <c:v>63.28</c:v>
                </c:pt>
                <c:pt idx="7">
                  <c:v>63.28</c:v>
                </c:pt>
                <c:pt idx="8">
                  <c:v>60.94</c:v>
                </c:pt>
              </c:numCache>
            </c:numRef>
          </c:val>
        </c:ser>
        <c:ser>
          <c:idx val="1"/>
          <c:order val="1"/>
          <c:tx>
            <c:strRef>
              <c:f>Charts!$C$1</c:f>
              <c:strCache>
                <c:ptCount val="1"/>
                <c:pt idx="0">
                  <c:v>Naïve Bayes</c:v>
                </c:pt>
              </c:strCache>
            </c:strRef>
          </c:tx>
          <c:invertIfNegative val="0"/>
          <c:cat>
            <c:strRef>
              <c:f>Charts!$A$2:$A$10</c:f>
              <c:strCache>
                <c:ptCount val="9"/>
                <c:pt idx="0">
                  <c:v>GFAvg</c:v>
                </c:pt>
                <c:pt idx="1">
                  <c:v>GAAvg</c:v>
                </c:pt>
                <c:pt idx="2">
                  <c:v>Penalties</c:v>
                </c:pt>
                <c:pt idx="3">
                  <c:v>ShotsOn</c:v>
                </c:pt>
                <c:pt idx="4">
                  <c:v>ShotsWide</c:v>
                </c:pt>
                <c:pt idx="5">
                  <c:v>FreeKicks</c:v>
                </c:pt>
                <c:pt idx="6">
                  <c:v>Offside</c:v>
                </c:pt>
                <c:pt idx="7">
                  <c:v>Corners</c:v>
                </c:pt>
                <c:pt idx="8">
                  <c:v>ALL</c:v>
                </c:pt>
              </c:strCache>
            </c:strRef>
          </c:cat>
          <c:val>
            <c:numRef>
              <c:f>Charts!$C$2:$C$10</c:f>
              <c:numCache>
                <c:formatCode>General</c:formatCode>
                <c:ptCount val="9"/>
                <c:pt idx="0">
                  <c:v>63.28</c:v>
                </c:pt>
                <c:pt idx="1">
                  <c:v>60.94</c:v>
                </c:pt>
                <c:pt idx="2">
                  <c:v>63.28</c:v>
                </c:pt>
                <c:pt idx="3">
                  <c:v>62.5</c:v>
                </c:pt>
                <c:pt idx="4">
                  <c:v>61.72</c:v>
                </c:pt>
                <c:pt idx="5">
                  <c:v>60.94</c:v>
                </c:pt>
                <c:pt idx="6">
                  <c:v>62.5</c:v>
                </c:pt>
                <c:pt idx="7">
                  <c:v>60.16</c:v>
                </c:pt>
                <c:pt idx="8">
                  <c:v>59.38</c:v>
                </c:pt>
              </c:numCache>
            </c:numRef>
          </c:val>
        </c:ser>
        <c:ser>
          <c:idx val="2"/>
          <c:order val="2"/>
          <c:tx>
            <c:strRef>
              <c:f>Charts!$D$1</c:f>
              <c:strCache>
                <c:ptCount val="1"/>
                <c:pt idx="0">
                  <c:v>REPTree</c:v>
                </c:pt>
              </c:strCache>
            </c:strRef>
          </c:tx>
          <c:invertIfNegative val="0"/>
          <c:cat>
            <c:strRef>
              <c:f>Charts!$A$2:$A$10</c:f>
              <c:strCache>
                <c:ptCount val="9"/>
                <c:pt idx="0">
                  <c:v>GFAvg</c:v>
                </c:pt>
                <c:pt idx="1">
                  <c:v>GAAvg</c:v>
                </c:pt>
                <c:pt idx="2">
                  <c:v>Penalties</c:v>
                </c:pt>
                <c:pt idx="3">
                  <c:v>ShotsOn</c:v>
                </c:pt>
                <c:pt idx="4">
                  <c:v>ShotsWide</c:v>
                </c:pt>
                <c:pt idx="5">
                  <c:v>FreeKicks</c:v>
                </c:pt>
                <c:pt idx="6">
                  <c:v>Offside</c:v>
                </c:pt>
                <c:pt idx="7">
                  <c:v>Corners</c:v>
                </c:pt>
                <c:pt idx="8">
                  <c:v>ALL</c:v>
                </c:pt>
              </c:strCache>
            </c:strRef>
          </c:cat>
          <c:val>
            <c:numRef>
              <c:f>Charts!$D$2:$D$10</c:f>
              <c:numCache>
                <c:formatCode>General</c:formatCode>
                <c:ptCount val="9"/>
                <c:pt idx="0">
                  <c:v>63.28</c:v>
                </c:pt>
                <c:pt idx="1">
                  <c:v>63.28</c:v>
                </c:pt>
                <c:pt idx="2">
                  <c:v>63.28</c:v>
                </c:pt>
                <c:pt idx="3">
                  <c:v>63.28</c:v>
                </c:pt>
                <c:pt idx="4">
                  <c:v>63.28</c:v>
                </c:pt>
                <c:pt idx="5">
                  <c:v>63.28</c:v>
                </c:pt>
                <c:pt idx="6">
                  <c:v>63.28</c:v>
                </c:pt>
                <c:pt idx="7">
                  <c:v>63.28</c:v>
                </c:pt>
                <c:pt idx="8">
                  <c:v>63.28</c:v>
                </c:pt>
              </c:numCache>
            </c:numRef>
          </c:val>
        </c:ser>
        <c:ser>
          <c:idx val="3"/>
          <c:order val="3"/>
          <c:tx>
            <c:strRef>
              <c:f>Charts!$E$1</c:f>
              <c:strCache>
                <c:ptCount val="1"/>
                <c:pt idx="0">
                  <c:v>Perceptron</c:v>
                </c:pt>
              </c:strCache>
            </c:strRef>
          </c:tx>
          <c:invertIfNegative val="0"/>
          <c:cat>
            <c:strRef>
              <c:f>Charts!$A$2:$A$10</c:f>
              <c:strCache>
                <c:ptCount val="9"/>
                <c:pt idx="0">
                  <c:v>GFAvg</c:v>
                </c:pt>
                <c:pt idx="1">
                  <c:v>GAAvg</c:v>
                </c:pt>
                <c:pt idx="2">
                  <c:v>Penalties</c:v>
                </c:pt>
                <c:pt idx="3">
                  <c:v>ShotsOn</c:v>
                </c:pt>
                <c:pt idx="4">
                  <c:v>ShotsWide</c:v>
                </c:pt>
                <c:pt idx="5">
                  <c:v>FreeKicks</c:v>
                </c:pt>
                <c:pt idx="6">
                  <c:v>Offside</c:v>
                </c:pt>
                <c:pt idx="7">
                  <c:v>Corners</c:v>
                </c:pt>
                <c:pt idx="8">
                  <c:v>ALL</c:v>
                </c:pt>
              </c:strCache>
            </c:strRef>
          </c:cat>
          <c:val>
            <c:numRef>
              <c:f>Charts!$E$2:$E$10</c:f>
              <c:numCache>
                <c:formatCode>General</c:formatCode>
                <c:ptCount val="9"/>
                <c:pt idx="0">
                  <c:v>51.56</c:v>
                </c:pt>
                <c:pt idx="1">
                  <c:v>53.13</c:v>
                </c:pt>
                <c:pt idx="2">
                  <c:v>44.53</c:v>
                </c:pt>
                <c:pt idx="3">
                  <c:v>50.0</c:v>
                </c:pt>
                <c:pt idx="4">
                  <c:v>47.66</c:v>
                </c:pt>
                <c:pt idx="5">
                  <c:v>46.87</c:v>
                </c:pt>
                <c:pt idx="6">
                  <c:v>47.66</c:v>
                </c:pt>
                <c:pt idx="7">
                  <c:v>47.66</c:v>
                </c:pt>
                <c:pt idx="8">
                  <c:v>51.56</c:v>
                </c:pt>
              </c:numCache>
            </c:numRef>
          </c:val>
        </c:ser>
        <c:dLbls>
          <c:showLegendKey val="0"/>
          <c:showVal val="0"/>
          <c:showCatName val="0"/>
          <c:showSerName val="0"/>
          <c:showPercent val="0"/>
          <c:showBubbleSize val="0"/>
        </c:dLbls>
        <c:gapWidth val="150"/>
        <c:axId val="2121523016"/>
        <c:axId val="2097338456"/>
      </c:barChart>
      <c:catAx>
        <c:axId val="2121523016"/>
        <c:scaling>
          <c:orientation val="minMax"/>
        </c:scaling>
        <c:delete val="0"/>
        <c:axPos val="l"/>
        <c:majorTickMark val="out"/>
        <c:minorTickMark val="none"/>
        <c:tickLblPos val="nextTo"/>
        <c:crossAx val="2097338456"/>
        <c:crosses val="autoZero"/>
        <c:auto val="1"/>
        <c:lblAlgn val="ctr"/>
        <c:lblOffset val="100"/>
        <c:noMultiLvlLbl val="0"/>
      </c:catAx>
      <c:valAx>
        <c:axId val="2097338456"/>
        <c:scaling>
          <c:orientation val="minMax"/>
        </c:scaling>
        <c:delete val="0"/>
        <c:axPos val="b"/>
        <c:majorGridlines/>
        <c:numFmt formatCode="General" sourceLinked="1"/>
        <c:majorTickMark val="out"/>
        <c:minorTickMark val="none"/>
        <c:tickLblPos val="nextTo"/>
        <c:crossAx val="2121523016"/>
        <c:crosses val="autoZero"/>
        <c:crossBetween val="between"/>
      </c:valAx>
    </c:plotArea>
    <c:legend>
      <c:legendPos val="r"/>
      <c:layout/>
      <c:overlay val="0"/>
    </c:legend>
    <c:plotVisOnly val="1"/>
    <c:dispBlanksAs val="gap"/>
    <c:showDLblsOverMax val="0"/>
  </c:chart>
  <c:txPr>
    <a:bodyPr/>
    <a:lstStyle/>
    <a:p>
      <a:pPr>
        <a:defRPr>
          <a:solidFill>
            <a:srgbClr val="000000"/>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barChart>
        <c:barDir val="bar"/>
        <c:grouping val="clustered"/>
        <c:varyColors val="0"/>
        <c:ser>
          <c:idx val="0"/>
          <c:order val="0"/>
          <c:tx>
            <c:strRef>
              <c:f>Charts!$G$2</c:f>
              <c:strCache>
                <c:ptCount val="1"/>
                <c:pt idx="0">
                  <c:v>Corners</c:v>
                </c:pt>
              </c:strCache>
            </c:strRef>
          </c:tx>
          <c:invertIfNegative val="0"/>
          <c:cat>
            <c:strRef>
              <c:f>Charts!$H$1:$K$1</c:f>
              <c:strCache>
                <c:ptCount val="4"/>
                <c:pt idx="0">
                  <c:v>J48</c:v>
                </c:pt>
                <c:pt idx="1">
                  <c:v>Naïve Bayes</c:v>
                </c:pt>
                <c:pt idx="2">
                  <c:v>REPTree</c:v>
                </c:pt>
                <c:pt idx="3">
                  <c:v>Perceptron</c:v>
                </c:pt>
              </c:strCache>
            </c:strRef>
          </c:cat>
          <c:val>
            <c:numRef>
              <c:f>Charts!$H$2:$K$2</c:f>
              <c:numCache>
                <c:formatCode>General</c:formatCode>
                <c:ptCount val="4"/>
                <c:pt idx="0">
                  <c:v>43.29</c:v>
                </c:pt>
                <c:pt idx="1">
                  <c:v>48.71</c:v>
                </c:pt>
                <c:pt idx="2">
                  <c:v>45.18</c:v>
                </c:pt>
                <c:pt idx="3">
                  <c:v>41.88</c:v>
                </c:pt>
              </c:numCache>
            </c:numRef>
          </c:val>
        </c:ser>
        <c:ser>
          <c:idx val="1"/>
          <c:order val="1"/>
          <c:tx>
            <c:strRef>
              <c:f>Charts!$G$3</c:f>
              <c:strCache>
                <c:ptCount val="1"/>
                <c:pt idx="0">
                  <c:v>GAAvg</c:v>
                </c:pt>
              </c:strCache>
            </c:strRef>
          </c:tx>
          <c:invertIfNegative val="0"/>
          <c:cat>
            <c:strRef>
              <c:f>Charts!$H$1:$K$1</c:f>
              <c:strCache>
                <c:ptCount val="4"/>
                <c:pt idx="0">
                  <c:v>J48</c:v>
                </c:pt>
                <c:pt idx="1">
                  <c:v>Naïve Bayes</c:v>
                </c:pt>
                <c:pt idx="2">
                  <c:v>REPTree</c:v>
                </c:pt>
                <c:pt idx="3">
                  <c:v>Perceptron</c:v>
                </c:pt>
              </c:strCache>
            </c:strRef>
          </c:cat>
          <c:val>
            <c:numRef>
              <c:f>Charts!$H$3:$K$3</c:f>
              <c:numCache>
                <c:formatCode>General</c:formatCode>
                <c:ptCount val="4"/>
                <c:pt idx="0">
                  <c:v>43.29</c:v>
                </c:pt>
                <c:pt idx="1">
                  <c:v>49.41</c:v>
                </c:pt>
                <c:pt idx="2">
                  <c:v>46.35</c:v>
                </c:pt>
                <c:pt idx="3">
                  <c:v>43.29</c:v>
                </c:pt>
              </c:numCache>
            </c:numRef>
          </c:val>
        </c:ser>
        <c:ser>
          <c:idx val="2"/>
          <c:order val="2"/>
          <c:tx>
            <c:strRef>
              <c:f>Charts!$G$4</c:f>
              <c:strCache>
                <c:ptCount val="1"/>
                <c:pt idx="0">
                  <c:v>ALL</c:v>
                </c:pt>
              </c:strCache>
            </c:strRef>
          </c:tx>
          <c:invertIfNegative val="0"/>
          <c:cat>
            <c:strRef>
              <c:f>Charts!$H$1:$K$1</c:f>
              <c:strCache>
                <c:ptCount val="4"/>
                <c:pt idx="0">
                  <c:v>J48</c:v>
                </c:pt>
                <c:pt idx="1">
                  <c:v>Naïve Bayes</c:v>
                </c:pt>
                <c:pt idx="2">
                  <c:v>REPTree</c:v>
                </c:pt>
                <c:pt idx="3">
                  <c:v>Perceptron</c:v>
                </c:pt>
              </c:strCache>
            </c:strRef>
          </c:cat>
          <c:val>
            <c:numRef>
              <c:f>Charts!$H$4:$K$4</c:f>
              <c:numCache>
                <c:formatCode>General</c:formatCode>
                <c:ptCount val="4"/>
                <c:pt idx="0">
                  <c:v>42.82</c:v>
                </c:pt>
                <c:pt idx="1">
                  <c:v>48.94</c:v>
                </c:pt>
                <c:pt idx="2">
                  <c:v>46.12</c:v>
                </c:pt>
                <c:pt idx="3">
                  <c:v>40.47</c:v>
                </c:pt>
              </c:numCache>
            </c:numRef>
          </c:val>
        </c:ser>
        <c:dLbls>
          <c:showLegendKey val="0"/>
          <c:showVal val="0"/>
          <c:showCatName val="0"/>
          <c:showSerName val="0"/>
          <c:showPercent val="0"/>
          <c:showBubbleSize val="0"/>
        </c:dLbls>
        <c:gapWidth val="150"/>
        <c:axId val="2139127736"/>
        <c:axId val="2139453256"/>
      </c:barChart>
      <c:catAx>
        <c:axId val="2139127736"/>
        <c:scaling>
          <c:orientation val="minMax"/>
        </c:scaling>
        <c:delete val="0"/>
        <c:axPos val="l"/>
        <c:majorTickMark val="out"/>
        <c:minorTickMark val="none"/>
        <c:tickLblPos val="nextTo"/>
        <c:crossAx val="2139453256"/>
        <c:crosses val="autoZero"/>
        <c:auto val="1"/>
        <c:lblAlgn val="ctr"/>
        <c:lblOffset val="100"/>
        <c:noMultiLvlLbl val="0"/>
      </c:catAx>
      <c:valAx>
        <c:axId val="2139453256"/>
        <c:scaling>
          <c:orientation val="minMax"/>
        </c:scaling>
        <c:delete val="0"/>
        <c:axPos val="b"/>
        <c:majorGridlines/>
        <c:numFmt formatCode="General" sourceLinked="1"/>
        <c:majorTickMark val="out"/>
        <c:minorTickMark val="none"/>
        <c:tickLblPos val="nextTo"/>
        <c:crossAx val="2139127736"/>
        <c:crosses val="autoZero"/>
        <c:crossBetween val="between"/>
      </c:valAx>
    </c:plotArea>
    <c:legend>
      <c:legendPos val="r"/>
      <c:layout/>
      <c:overlay val="0"/>
    </c:legend>
    <c:plotVisOnly val="1"/>
    <c:dispBlanksAs val="gap"/>
    <c:showDLblsOverMax val="0"/>
  </c:chart>
  <c:txPr>
    <a:bodyPr/>
    <a:lstStyle/>
    <a:p>
      <a:pPr>
        <a:defRPr>
          <a:solidFill>
            <a:srgbClr val="000000"/>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EB71A4-20DE-4BDC-B9F3-FE9C6EF4F631}" type="datetimeFigureOut">
              <a:rPr lang="en-US" smtClean="0"/>
              <a:t>15-04-02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CAC318-0279-474A-A271-1373870C7410}" type="slidenum">
              <a:rPr lang="en-US" smtClean="0"/>
              <a:t>‹#›</a:t>
            </a:fld>
            <a:endParaRPr lang="en-US"/>
          </a:p>
        </p:txBody>
      </p:sp>
    </p:spTree>
    <p:extLst>
      <p:ext uri="{BB962C8B-B14F-4D97-AF65-F5344CB8AC3E}">
        <p14:creationId xmlns:p14="http://schemas.microsoft.com/office/powerpoint/2010/main" val="1489257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15-04-02 14:52</a:t>
            </a:fld>
            <a:endParaRPr lang="en-US" dirty="0"/>
          </a:p>
        </p:txBody>
      </p:sp>
      <p:sp>
        <p:nvSpPr>
          <p:cNvPr id="6" name="Footer Placeholder 5"/>
          <p:cNvSpPr>
            <a:spLocks noGrp="1"/>
          </p:cNvSpPr>
          <p:nvPr>
            <p:ph type="ftr" sz="quarter" idx="12"/>
          </p:nvPr>
        </p:nvSpPr>
        <p:spPr>
          <a:xfrm>
            <a:off x="0" y="8685213"/>
            <a:ext cx="6172200" cy="457200"/>
          </a:xfrm>
        </p:spPr>
        <p:txBody>
          <a:bodyPr/>
          <a:lstStyle/>
          <a:p>
            <a:r>
              <a:rPr lang="en-US" sz="500" dirty="0" smtClean="0">
                <a:solidFill>
                  <a:srgbClr val="000000"/>
                </a:solidFill>
              </a:rPr>
              <a:t>© 2007 Microsoft Corporation. All rights reserved. Microsoft, Windows, Windows Vista and other product names are or may be registered trademarks and/or trademarks in the U.S. and/or other countries.</a:t>
            </a:r>
          </a:p>
          <a:p>
            <a:r>
              <a:rPr lang="en-US" sz="500"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rPr>
            </a:br>
            <a:r>
              <a:rPr lang="en-US" sz="500" dirty="0" smtClean="0">
                <a:solidFill>
                  <a:srgbClr val="000000"/>
                </a:solidFill>
              </a:rPr>
              <a:t>MICROSOFT MAKES NO WARRANTIES, EXPRESS, IMPLIED OR STATUTORY, AS TO THE INFORMATION IN THIS PRESENTATION.</a:t>
            </a:r>
          </a:p>
          <a:p>
            <a:endParaRPr lang="en-US" sz="500" dirty="0"/>
          </a:p>
        </p:txBody>
      </p:sp>
      <p:sp>
        <p:nvSpPr>
          <p:cNvPr id="7" name="Slide Number Placeholder 6"/>
          <p:cNvSpPr>
            <a:spLocks noGrp="1"/>
          </p:cNvSpPr>
          <p:nvPr>
            <p:ph type="sldNum" sz="quarter" idx="13"/>
          </p:nvPr>
        </p:nvSpPr>
        <p:spPr>
          <a:xfrm>
            <a:off x="6172199" y="8685213"/>
            <a:ext cx="684213" cy="457200"/>
          </a:xfrm>
        </p:spPr>
        <p:txBody>
          <a:bodyPr/>
          <a:lstStyle/>
          <a:p>
            <a:fld id="{EC87E0CF-87F6-4B58-B8B8-DCAB2DAAF3C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15-04-02 14:52</a:t>
            </a:fld>
            <a:endParaRPr lang="en-US"/>
          </a:p>
        </p:txBody>
      </p:sp>
      <p:sp>
        <p:nvSpPr>
          <p:cNvPr id="6" name="Footer Placeholder 5"/>
          <p:cNvSpPr>
            <a:spLocks noGrp="1"/>
          </p:cNvSpPr>
          <p:nvPr>
            <p:ph type="ftr" sz="quarter" idx="12"/>
          </p:nvPr>
        </p:nvSpPr>
        <p:spPr/>
        <p:txBody>
          <a:bodyPr/>
          <a:lstStyle/>
          <a:p>
            <a:r>
              <a:rPr lang="en-US" smtClean="0">
                <a:solidFill>
                  <a:srgbClr val="000000"/>
                </a:solidFill>
              </a:rPr>
              <a:t>© 2007 Microsoft Corporation. All rights reserved. Microsoft, Windows, Windows Vista and other product names are or may be registered trademarks and/or trademarks in the U.S. and/or other countries.</a:t>
            </a:r>
          </a:p>
          <a:p>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15-04-02 15:03</a:t>
            </a:fld>
            <a:endParaRPr lang="en-US"/>
          </a:p>
        </p:txBody>
      </p:sp>
      <p:sp>
        <p:nvSpPr>
          <p:cNvPr id="6" name="Footer Placeholder 5"/>
          <p:cNvSpPr>
            <a:spLocks noGrp="1"/>
          </p:cNvSpPr>
          <p:nvPr>
            <p:ph type="ftr" sz="quarter" idx="12"/>
          </p:nvPr>
        </p:nvSpPr>
        <p:spPr/>
        <p:txBody>
          <a:bodyPr/>
          <a:lstStyle/>
          <a:p>
            <a:r>
              <a:rPr lang="en-US" smtClean="0">
                <a:solidFill>
                  <a:srgbClr val="000000"/>
                </a:solidFill>
              </a:rPr>
              <a:t>© 2007 Microsoft Corporation. All rights reserved. Microsoft, Windows, Windows Vista and other product names are or may be registered trademarks and/or trademarks in the U.S. and/or other countries.</a:t>
            </a:r>
          </a:p>
          <a:p>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15-04-02 15:01</a:t>
            </a:fld>
            <a:endParaRPr lang="en-US"/>
          </a:p>
        </p:txBody>
      </p:sp>
      <p:sp>
        <p:nvSpPr>
          <p:cNvPr id="6" name="Footer Placeholder 5"/>
          <p:cNvSpPr>
            <a:spLocks noGrp="1"/>
          </p:cNvSpPr>
          <p:nvPr>
            <p:ph type="ftr" sz="quarter" idx="12"/>
          </p:nvPr>
        </p:nvSpPr>
        <p:spPr/>
        <p:txBody>
          <a:bodyPr/>
          <a:lstStyle/>
          <a:p>
            <a:r>
              <a:rPr lang="en-US" smtClean="0">
                <a:solidFill>
                  <a:srgbClr val="000000"/>
                </a:solidFill>
              </a:rPr>
              <a:t>© 2007 Microsoft Corporation. All rights reserved. Microsoft, Windows, Windows Vista and other product names are or may be registered trademarks and/or trademarks in the U.S. and/or other countries.</a:t>
            </a:r>
          </a:p>
          <a:p>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15-04-02 15:26</a:t>
            </a:fld>
            <a:endParaRPr lang="en-US"/>
          </a:p>
        </p:txBody>
      </p:sp>
      <p:sp>
        <p:nvSpPr>
          <p:cNvPr id="6" name="Footer Placeholder 5"/>
          <p:cNvSpPr>
            <a:spLocks noGrp="1"/>
          </p:cNvSpPr>
          <p:nvPr>
            <p:ph type="ftr" sz="quarter" idx="12"/>
          </p:nvPr>
        </p:nvSpPr>
        <p:spPr/>
        <p:txBody>
          <a:bodyPr/>
          <a:lstStyle/>
          <a:p>
            <a:r>
              <a:rPr lang="en-US" smtClean="0">
                <a:solidFill>
                  <a:srgbClr val="000000"/>
                </a:solidFill>
              </a:rPr>
              <a:t>© 2007 Microsoft Corporation. All rights reserved. Microsoft, Windows, Windows Vista and other product names are or may be registered trademarks and/or trademarks in the U.S. and/or other countries.</a:t>
            </a:r>
          </a:p>
          <a:p>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15-04-02 15:33</a:t>
            </a:fld>
            <a:endParaRPr lang="en-US"/>
          </a:p>
        </p:txBody>
      </p:sp>
      <p:sp>
        <p:nvSpPr>
          <p:cNvPr id="6" name="Footer Placeholder 5"/>
          <p:cNvSpPr>
            <a:spLocks noGrp="1"/>
          </p:cNvSpPr>
          <p:nvPr>
            <p:ph type="ftr" sz="quarter" idx="12"/>
          </p:nvPr>
        </p:nvSpPr>
        <p:spPr/>
        <p:txBody>
          <a:bodyPr/>
          <a:lstStyle/>
          <a:p>
            <a:r>
              <a:rPr lang="en-US" smtClean="0">
                <a:solidFill>
                  <a:srgbClr val="000000"/>
                </a:solidFill>
              </a:rPr>
              <a:t>© 2007 Microsoft Corporation. All rights reserved. Microsoft, Windows, Windows Vista and other product names are or may be registered trademarks and/or trademarks in the U.S. and/or other countries.</a:t>
            </a:r>
          </a:p>
          <a:p>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7</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15-04-02 15:35</a:t>
            </a:fld>
            <a:endParaRPr lang="en-US"/>
          </a:p>
        </p:txBody>
      </p:sp>
      <p:sp>
        <p:nvSpPr>
          <p:cNvPr id="6" name="Footer Placeholder 5"/>
          <p:cNvSpPr>
            <a:spLocks noGrp="1"/>
          </p:cNvSpPr>
          <p:nvPr>
            <p:ph type="ftr" sz="quarter" idx="12"/>
          </p:nvPr>
        </p:nvSpPr>
        <p:spPr/>
        <p:txBody>
          <a:bodyPr/>
          <a:lstStyle/>
          <a:p>
            <a:r>
              <a:rPr lang="en-US" smtClean="0">
                <a:solidFill>
                  <a:srgbClr val="000000"/>
                </a:solidFill>
              </a:rPr>
              <a:t>© 2007 Microsoft Corporation. All rights reserved. Microsoft, Windows, Windows Vista and other product names are or may be registered trademarks and/or trademarks in the U.S. and/or other countries.</a:t>
            </a:r>
          </a:p>
          <a:p>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8</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15-04-02 14:52</a:t>
            </a:fld>
            <a:endParaRPr lang="en-US"/>
          </a:p>
        </p:txBody>
      </p:sp>
      <p:sp>
        <p:nvSpPr>
          <p:cNvPr id="6" name="Footer Placeholder 5"/>
          <p:cNvSpPr>
            <a:spLocks noGrp="1"/>
          </p:cNvSpPr>
          <p:nvPr>
            <p:ph type="ftr" sz="quarter" idx="12"/>
          </p:nvPr>
        </p:nvSpPr>
        <p:spPr/>
        <p:txBody>
          <a:bodyPr/>
          <a:lstStyle/>
          <a:p>
            <a:r>
              <a:rPr lang="en-US" smtClean="0">
                <a:solidFill>
                  <a:srgbClr val="000000"/>
                </a:solidFill>
              </a:rPr>
              <a:t>© 2007 Microsoft Corporation. All rights reserved. Microsoft, Windows, Windows Vista and other product names are or may be registered trademarks and/or trademarks in the U.S. and/or other countries.</a:t>
            </a:r>
          </a:p>
          <a:p>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p>
          <a:p>
            <a:endParaRPr lang="en-US" dirty="0"/>
          </a:p>
        </p:txBody>
      </p:sp>
      <p:sp>
        <p:nvSpPr>
          <p:cNvPr id="7" name="Slide Number Placeholder 6"/>
          <p:cNvSpPr>
            <a:spLocks noGrp="1"/>
          </p:cNvSpPr>
          <p:nvPr>
            <p:ph type="sldNum" sz="quarter" idx="13"/>
          </p:nvPr>
        </p:nvSpPr>
        <p:spPr/>
        <p:txBody>
          <a:bodyPr/>
          <a:lstStyle/>
          <a:p>
            <a:fld id="{EC87E0CF-87F6-4B58-B8B8-DCAB2DAAF3CA}" type="slidenum">
              <a:rPr lang="en-US" smtClean="0"/>
              <a:pPr/>
              <a:t>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png"/><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srcRect/>
          <a:stretch>
            <a:fillRect/>
          </a:stretch>
        </a:blipFill>
        <a:effectLst/>
      </p:bgPr>
    </p:bg>
    <p:spTree>
      <p:nvGrpSpPr>
        <p:cNvPr id="1" name=""/>
        <p:cNvGrpSpPr/>
        <p:nvPr/>
      </p:nvGrpSpPr>
      <p:grpSpPr>
        <a:xfrm>
          <a:off x="0" y="0"/>
          <a:ext cx="0" cy="0"/>
          <a:chOff x="0" y="0"/>
          <a:chExt cx="0" cy="0"/>
        </a:xfrm>
      </p:grpSpPr>
      <p:pic>
        <p:nvPicPr>
          <p:cNvPr id="7" name="Picture 6" descr="5-00332_grey-bar.png"/>
          <p:cNvPicPr>
            <a:picLocks noChangeAspect="1"/>
          </p:cNvPicPr>
          <p:nvPr userDrawn="1"/>
        </p:nvPicPr>
        <p:blipFill>
          <a:blip r:embed="rId3"/>
          <a:srcRect t="93333"/>
          <a:stretch>
            <a:fillRect/>
          </a:stretch>
        </p:blipFill>
        <p:spPr>
          <a:xfrm>
            <a:off x="0" y="6400800"/>
            <a:ext cx="9144000" cy="457200"/>
          </a:xfrm>
          <a:prstGeom prst="rect">
            <a:avLst/>
          </a:prstGeom>
        </p:spPr>
      </p:pic>
      <p:sp>
        <p:nvSpPr>
          <p:cNvPr id="2" name="Title 1"/>
          <p:cNvSpPr>
            <a:spLocks noGrp="1"/>
          </p:cNvSpPr>
          <p:nvPr>
            <p:ph type="ctrTitle"/>
          </p:nvPr>
        </p:nvSpPr>
        <p:spPr>
          <a:xfrm>
            <a:off x="762000" y="1905000"/>
            <a:ext cx="7681913" cy="1523495"/>
          </a:xfrm>
        </p:spPr>
        <p:txBody>
          <a:bodyPr>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762000" y="3881735"/>
            <a:ext cx="7681913" cy="461665"/>
          </a:xfrm>
        </p:spPr>
        <p:txBody>
          <a:bodyPr>
            <a:noAutofit/>
          </a:bodyPr>
          <a:lstStyle>
            <a:lvl1pPr marL="0" indent="0" algn="l">
              <a:lnSpc>
                <a:spcPct val="90000"/>
              </a:lnSpc>
              <a:spcBef>
                <a:spcPts val="0"/>
              </a:spcBef>
              <a:buNone/>
              <a:defRPr>
                <a:solidFill>
                  <a:schemeClr val="bg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pic>
        <p:nvPicPr>
          <p:cNvPr id="5" name="Picture 24" descr="C:\Program Files\Microsoft Resource DVD Artwork\DVD_ART\Artwork_Imagery\Shapes and Graphics\Line\faded white line.png"/>
          <p:cNvPicPr>
            <a:picLocks noChangeAspect="1" noChangeArrowheads="1"/>
          </p:cNvPicPr>
          <p:nvPr userDrawn="1"/>
        </p:nvPicPr>
        <p:blipFill>
          <a:blip r:embed="rId4"/>
          <a:srcRect/>
          <a:stretch>
            <a:fillRect/>
          </a:stretch>
        </p:blipFill>
        <p:spPr bwMode="auto">
          <a:xfrm>
            <a:off x="-238125" y="5623686"/>
            <a:ext cx="8696325" cy="19050"/>
          </a:xfrm>
          <a:prstGeom prst="rect">
            <a:avLst/>
          </a:prstGeom>
          <a:noFill/>
        </p:spPr>
      </p:pic>
    </p:spTree>
  </p:cSld>
  <p:clrMapOvr>
    <a:masterClrMapping/>
  </p:clrMapOvr>
  <p:transition xmlns:p14="http://schemas.microsoft.com/office/powerpoint/2010/mai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pic>
        <p:nvPicPr>
          <p:cNvPr id="9" name="Picture 8" descr="5-00332_grey-bar.png"/>
          <p:cNvPicPr>
            <a:picLocks noChangeAspect="1"/>
          </p:cNvPicPr>
          <p:nvPr userDrawn="1"/>
        </p:nvPicPr>
        <p:blipFill>
          <a:blip r:embed="rId2"/>
          <a:srcRect t="93333"/>
          <a:stretch>
            <a:fillRect/>
          </a:stretch>
        </p:blipFill>
        <p:spPr>
          <a:xfrm>
            <a:off x="0" y="6400800"/>
            <a:ext cx="9144000" cy="457200"/>
          </a:xfrm>
          <a:prstGeom prst="rect">
            <a:avLst/>
          </a:prstGeom>
        </p:spPr>
      </p:pic>
      <p:sp>
        <p:nvSpPr>
          <p:cNvPr id="2" name="Title 1"/>
          <p:cNvSpPr>
            <a:spLocks noGrp="1"/>
          </p:cNvSpPr>
          <p:nvPr>
            <p:ph type="ctrTitle"/>
          </p:nvPr>
        </p:nvSpPr>
        <p:spPr>
          <a:xfrm>
            <a:off x="381000" y="832356"/>
            <a:ext cx="7043208" cy="1523494"/>
          </a:xfrm>
        </p:spPr>
        <p:txBody>
          <a:bodyPr anchor="ctr" anchorCtr="0">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381000" y="3048000"/>
            <a:ext cx="7043208" cy="461665"/>
          </a:xfrm>
        </p:spPr>
        <p:txBody>
          <a:bodyPr>
            <a:noAutofit/>
          </a:bodyPr>
          <a:lstStyle>
            <a:lvl1pPr marL="0" indent="0" algn="l">
              <a:lnSpc>
                <a:spcPct val="90000"/>
              </a:lnSpc>
              <a:spcBef>
                <a:spcPts val="0"/>
              </a:spcBef>
              <a:buNone/>
              <a:defRPr>
                <a:solidFill>
                  <a:schemeClr val="bg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pic>
        <p:nvPicPr>
          <p:cNvPr id="6" name="Picture 24" descr="C:\Program Files\Microsoft Resource DVD Artwork\DVD_ART\Artwork_Imagery\Shapes and Graphics\Line\faded white line.png"/>
          <p:cNvPicPr>
            <a:picLocks noChangeAspect="1" noChangeArrowheads="1"/>
          </p:cNvPicPr>
          <p:nvPr userDrawn="1"/>
        </p:nvPicPr>
        <p:blipFill>
          <a:blip r:embed="rId3"/>
          <a:srcRect/>
          <a:stretch>
            <a:fillRect/>
          </a:stretch>
        </p:blipFill>
        <p:spPr bwMode="auto">
          <a:xfrm>
            <a:off x="-238125" y="5623432"/>
            <a:ext cx="8696325" cy="19050"/>
          </a:xfrm>
          <a:prstGeom prst="rect">
            <a:avLst/>
          </a:prstGeom>
          <a:noFill/>
        </p:spPr>
      </p:pic>
      <p:sp>
        <p:nvSpPr>
          <p:cNvPr id="7" name="Text Placeholder 6"/>
          <p:cNvSpPr>
            <a:spLocks noGrp="1"/>
          </p:cNvSpPr>
          <p:nvPr>
            <p:ph type="body" sz="quarter" idx="10" hasCustomPrompt="1"/>
          </p:nvPr>
        </p:nvSpPr>
        <p:spPr>
          <a:xfrm>
            <a:off x="1072886" y="4572000"/>
            <a:ext cx="7690114" cy="1066800"/>
          </a:xfrm>
          <a:effectLst>
            <a:reflection blurRad="6350" stA="52000" endA="300" endPos="35000" dir="5400000" sy="-100000" algn="bl" rotWithShape="0"/>
          </a:effectLst>
        </p:spPr>
        <p:txBody>
          <a:bodyPr anchor="t" anchorCtr="0">
            <a:noAutofit/>
            <a:scene3d>
              <a:camera prst="orthographicFront"/>
              <a:lightRig rig="flat" dir="t"/>
            </a:scene3d>
            <a:sp3d>
              <a:contourClr>
                <a:schemeClr val="accent4">
                  <a:lumMod val="50000"/>
                </a:schemeClr>
              </a:contourClr>
            </a:sp3d>
          </a:bodyPr>
          <a:lstStyle>
            <a:lvl1pPr marL="0" indent="0" algn="r">
              <a:buFont typeface="Arial" pitchFamily="34" charset="0"/>
              <a:buNone/>
              <a:defRPr kumimoji="0" lang="en-US" sz="10000" b="1" i="1" u="none" strike="noStrike" kern="1200" cap="none" spc="-642" normalizeH="0" baseline="0" noProof="0" dirty="0" smtClean="0">
                <a:ln w="11430">
                  <a:solidFill>
                    <a:schemeClr val="accent4">
                      <a:lumMod val="50000"/>
                    </a:schemeClr>
                  </a:solidFill>
                </a:ln>
                <a:solidFill>
                  <a:schemeClr val="tx1"/>
                </a:solidFill>
                <a:effectLst/>
                <a:uLnTx/>
                <a:uFillTx/>
                <a:latin typeface="+mn-lt"/>
                <a:ea typeface="+mn-ea"/>
                <a:cs typeface="+mn-cs"/>
              </a:defRPr>
            </a:lvl1pPr>
          </a:lstStyle>
          <a:p>
            <a:pPr lvl="0"/>
            <a:r>
              <a:rPr lang="en-US" dirty="0" smtClean="0"/>
              <a:t>click to…</a:t>
            </a:r>
          </a:p>
        </p:txBody>
      </p:sp>
    </p:spTree>
  </p:cSld>
  <p:clrMapOvr>
    <a:masterClrMapping/>
  </p:clrMapOvr>
  <p:transition xmlns:p14="http://schemas.microsoft.com/office/powerpoint/2010/mai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381000" y="1411552"/>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xmlns:p14="http://schemas.microsoft.com/office/powerpoint/2010/mai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381000" y="1412875"/>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xmlns:p14="http://schemas.microsoft.com/office/powerpoint/2010/mai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11553"/>
            <a:ext cx="4114800" cy="2129814"/>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411553"/>
            <a:ext cx="4114800" cy="2129814"/>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xmlns:p14="http://schemas.microsoft.com/office/powerpoint/2010/mai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381000" y="1411553"/>
            <a:ext cx="4114800"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80999" y="2174875"/>
            <a:ext cx="41148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981" y="1411553"/>
            <a:ext cx="4117019"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117974"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xmlns:p14="http://schemas.microsoft.com/office/powerpoint/2010/mai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cSld>
  <p:clrMapOvr>
    <a:masterClrMapping/>
  </p:clrMapOvr>
  <p:transition xmlns:p14="http://schemas.microsoft.com/office/powerpoint/2010/mai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xmlns:p14="http://schemas.microsoft.com/office/powerpoint/2010/mai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solidFill>
                  <a:schemeClr val="tx1"/>
                </a:soli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solidFill>
                  <a:schemeClr val="tx1"/>
                </a:solidFill>
              </a:defRPr>
            </a:lvl1pPr>
            <a:lvl2pPr>
              <a:buClr>
                <a:schemeClr val="tx1"/>
              </a:buClr>
              <a:buSzPct val="70000"/>
              <a:buFont typeface="Wingdings" pitchFamily="2" charset="2"/>
              <a:buChar char="l"/>
              <a:defRPr>
                <a:solidFill>
                  <a:schemeClr val="tx1"/>
                </a:solidFill>
              </a:defRPr>
            </a:lvl2pPr>
            <a:lvl3pPr>
              <a:buClr>
                <a:schemeClr val="tx1"/>
              </a:buClr>
              <a:buSzPct val="70000"/>
              <a:buFont typeface="Wingdings" pitchFamily="2" charset="2"/>
              <a:buChar char="l"/>
              <a:defRPr>
                <a:solidFill>
                  <a:schemeClr val="tx1"/>
                </a:solidFill>
              </a:defRPr>
            </a:lvl3pPr>
            <a:lvl4pPr>
              <a:buClr>
                <a:schemeClr val="tx1"/>
              </a:buClr>
              <a:buSzPct val="70000"/>
              <a:buFont typeface="Wingdings" pitchFamily="2" charset="2"/>
              <a:buChar char="l"/>
              <a:defRPr>
                <a:solidFill>
                  <a:schemeClr val="tx1"/>
                </a:solidFill>
              </a:defRPr>
            </a:lvl4pPr>
            <a:lvl5pPr>
              <a:buClr>
                <a:schemeClr val="tx1"/>
              </a:buClr>
              <a:buSzPct val="70000"/>
              <a:buFont typeface="Wingdings" pitchFamily="2" charset="2"/>
              <a:buChar char="l"/>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xmlns:p14="http://schemas.microsoft.com/office/powerpoint/2010/mai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solidFill>
                  <a:schemeClr val="tx1"/>
                </a:soli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solidFill>
                  <a:schemeClr val="tx1"/>
                </a:solidFill>
              </a:defRPr>
            </a:lvl1pPr>
            <a:lvl2pPr>
              <a:buClr>
                <a:schemeClr val="tx1"/>
              </a:buClr>
              <a:buSzPct val="70000"/>
              <a:buFont typeface="Wingdings" pitchFamily="2" charset="2"/>
              <a:buChar char="l"/>
              <a:defRPr>
                <a:solidFill>
                  <a:schemeClr val="tx1"/>
                </a:solidFill>
              </a:defRPr>
            </a:lvl2pPr>
            <a:lvl3pPr>
              <a:buClr>
                <a:schemeClr val="tx1"/>
              </a:buClr>
              <a:buSzPct val="70000"/>
              <a:buFont typeface="Wingdings" pitchFamily="2" charset="2"/>
              <a:buChar char="l"/>
              <a:defRPr>
                <a:solidFill>
                  <a:schemeClr val="tx1"/>
                </a:solidFill>
              </a:defRPr>
            </a:lvl3pPr>
            <a:lvl4pPr>
              <a:buClr>
                <a:schemeClr val="tx1"/>
              </a:buClr>
              <a:buSzPct val="70000"/>
              <a:buFont typeface="Wingdings" pitchFamily="2" charset="2"/>
              <a:buChar char="l"/>
              <a:defRPr>
                <a:solidFill>
                  <a:schemeClr val="tx1"/>
                </a:solidFill>
              </a:defRPr>
            </a:lvl4pPr>
            <a:lvl5pPr>
              <a:buClr>
                <a:schemeClr val="tx1"/>
              </a:buClr>
              <a:buSzPct val="70000"/>
              <a:buFont typeface="Wingdings" pitchFamily="2" charset="2"/>
              <a:buChar char="l"/>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0" y="6238875"/>
            <a:ext cx="9144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smtClean="0"/>
              <a:t>Click to edit Master text styles</a:t>
            </a:r>
          </a:p>
        </p:txBody>
      </p:sp>
    </p:spTree>
  </p:cSld>
  <p:clrMapOvr>
    <a:masterClrMapping/>
  </p:clrMapOvr>
  <p:transition xmlns:p14="http://schemas.microsoft.com/office/powerpoint/2010/mai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Demo, Video etc. &quot;special&quot; slides">
    <p:spTree>
      <p:nvGrpSpPr>
        <p:cNvPr id="1" name=""/>
        <p:cNvGrpSpPr/>
        <p:nvPr/>
      </p:nvGrpSpPr>
      <p:grpSpPr>
        <a:xfrm>
          <a:off x="0" y="0"/>
          <a:ext cx="0" cy="0"/>
          <a:chOff x="0" y="0"/>
          <a:chExt cx="0" cy="0"/>
        </a:xfrm>
      </p:grpSpPr>
      <p:pic>
        <p:nvPicPr>
          <p:cNvPr id="9" name="Picture 8" descr="5-00332_grey-bar.png"/>
          <p:cNvPicPr>
            <a:picLocks noChangeAspect="1"/>
          </p:cNvPicPr>
          <p:nvPr userDrawn="1"/>
        </p:nvPicPr>
        <p:blipFill>
          <a:blip r:embed="rId2"/>
          <a:srcRect t="93333"/>
          <a:stretch>
            <a:fillRect/>
          </a:stretch>
        </p:blipFill>
        <p:spPr>
          <a:xfrm>
            <a:off x="0" y="6400800"/>
            <a:ext cx="9144000" cy="457200"/>
          </a:xfrm>
          <a:prstGeom prst="rect">
            <a:avLst/>
          </a:prstGeom>
        </p:spPr>
      </p:pic>
      <p:sp>
        <p:nvSpPr>
          <p:cNvPr id="2" name="Title 1"/>
          <p:cNvSpPr>
            <a:spLocks noGrp="1"/>
          </p:cNvSpPr>
          <p:nvPr>
            <p:ph type="ctrTitle"/>
          </p:nvPr>
        </p:nvSpPr>
        <p:spPr>
          <a:xfrm>
            <a:off x="381000" y="832356"/>
            <a:ext cx="7043208" cy="1523494"/>
          </a:xfrm>
        </p:spPr>
        <p:txBody>
          <a:bodyPr anchor="ctr" anchorCtr="0">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381000" y="3048000"/>
            <a:ext cx="7043208" cy="461665"/>
          </a:xfrm>
        </p:spPr>
        <p:txBody>
          <a:bodyPr>
            <a:noAutofit/>
          </a:bodyPr>
          <a:lstStyle>
            <a:lvl1pPr marL="0" indent="0" algn="l">
              <a:lnSpc>
                <a:spcPct val="90000"/>
              </a:lnSpc>
              <a:spcBef>
                <a:spcPts val="0"/>
              </a:spcBef>
              <a:buNone/>
              <a:defRPr>
                <a:solidFill>
                  <a:schemeClr val="bg1"/>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pic>
        <p:nvPicPr>
          <p:cNvPr id="6" name="Picture 24" descr="C:\Program Files\Microsoft Resource DVD Artwork\DVD_ART\Artwork_Imagery\Shapes and Graphics\Line\faded white line.png"/>
          <p:cNvPicPr>
            <a:picLocks noChangeAspect="1" noChangeArrowheads="1"/>
          </p:cNvPicPr>
          <p:nvPr userDrawn="1"/>
        </p:nvPicPr>
        <p:blipFill>
          <a:blip r:embed="rId3"/>
          <a:srcRect/>
          <a:stretch>
            <a:fillRect/>
          </a:stretch>
        </p:blipFill>
        <p:spPr bwMode="auto">
          <a:xfrm>
            <a:off x="-238125" y="5623432"/>
            <a:ext cx="8696325" cy="19050"/>
          </a:xfrm>
          <a:prstGeom prst="rect">
            <a:avLst/>
          </a:prstGeom>
          <a:noFill/>
        </p:spPr>
      </p:pic>
      <p:sp>
        <p:nvSpPr>
          <p:cNvPr id="7" name="Text Placeholder 6"/>
          <p:cNvSpPr>
            <a:spLocks noGrp="1"/>
          </p:cNvSpPr>
          <p:nvPr>
            <p:ph type="body" sz="quarter" idx="10" hasCustomPrompt="1"/>
          </p:nvPr>
        </p:nvSpPr>
        <p:spPr>
          <a:xfrm>
            <a:off x="1072886" y="4572000"/>
            <a:ext cx="7690114" cy="1066800"/>
          </a:xfrm>
          <a:effectLst>
            <a:reflection blurRad="6350" stA="52000" endA="300" endPos="35000" dir="5400000" sy="-100000" algn="bl" rotWithShape="0"/>
          </a:effectLst>
        </p:spPr>
        <p:txBody>
          <a:bodyPr anchor="t" anchorCtr="0">
            <a:noAutofit/>
            <a:scene3d>
              <a:camera prst="orthographicFront"/>
              <a:lightRig rig="flat" dir="t"/>
            </a:scene3d>
            <a:sp3d>
              <a:contourClr>
                <a:schemeClr val="accent4">
                  <a:lumMod val="50000"/>
                </a:schemeClr>
              </a:contourClr>
            </a:sp3d>
          </a:bodyPr>
          <a:lstStyle>
            <a:lvl1pPr marL="0" indent="0" algn="r">
              <a:buFont typeface="Arial" pitchFamily="34" charset="0"/>
              <a:buNone/>
              <a:defRPr kumimoji="0" lang="en-US" sz="10000" b="1" i="1" u="none" strike="noStrike" kern="1200" cap="none" spc="-642" normalizeH="0" baseline="0" noProof="0" dirty="0" smtClean="0">
                <a:ln w="11430">
                  <a:solidFill>
                    <a:schemeClr val="accent4">
                      <a:lumMod val="50000"/>
                    </a:schemeClr>
                  </a:solidFill>
                </a:ln>
                <a:solidFill>
                  <a:schemeClr val="tx1"/>
                </a:solidFill>
                <a:effectLst/>
                <a:uLnTx/>
                <a:uFillTx/>
                <a:latin typeface="+mn-lt"/>
                <a:ea typeface="+mn-ea"/>
                <a:cs typeface="+mn-cs"/>
              </a:defRPr>
            </a:lvl1pPr>
          </a:lstStyle>
          <a:p>
            <a:pPr lvl="0"/>
            <a:r>
              <a:rPr lang="en-US" dirty="0" smtClean="0"/>
              <a:t>click to…</a:t>
            </a:r>
          </a:p>
        </p:txBody>
      </p:sp>
    </p:spTree>
  </p:cSld>
  <p:clrMapOvr>
    <a:masterClrMapping/>
  </p:clrMapOvr>
  <p:transition xmlns:p14="http://schemas.microsoft.com/office/powerpoint/2010/mai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722313" y="1905000"/>
            <a:ext cx="8040688" cy="193899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xmlns:p14="http://schemas.microsoft.com/office/powerpoint/2010/mai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 Id="rId15"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7.png"/><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381000" y="1412875"/>
            <a:ext cx="8382000" cy="2135969"/>
          </a:xfrm>
          <a:prstGeom prst="rect">
            <a:avLst/>
          </a:prstGeom>
        </p:spPr>
        <p:txBody>
          <a:bodyPr vert="horz"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dk1" tx1="lt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61" r:id="rId11"/>
  </p:sldLayoutIdLst>
  <p:transition xmlns:p14="http://schemas.microsoft.com/office/powerpoint/2010/mai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chemeClr val="accent2">
                  <a:lumMod val="50000"/>
                </a:schemeClr>
              </a:gs>
              <a:gs pos="36000">
                <a:schemeClr val="accent2">
                  <a:lumMod val="75000"/>
                </a:schemeClr>
              </a:gs>
              <a:gs pos="86000">
                <a:schemeClr val="accent2">
                  <a:lumMod val="50000"/>
                </a:schemeClr>
              </a:gs>
            </a:gsLst>
            <a:lin ang="5400000" scaled="0"/>
            <a:tileRect/>
          </a:gradFill>
          <a:effectLst/>
          <a:latin typeface="+mj-lt"/>
          <a:ea typeface="+mn-ea"/>
          <a:cs typeface="Arial" charset="0"/>
        </a:defRPr>
      </a:lvl1pPr>
    </p:titleStyle>
    <p:bodyStyle>
      <a:lvl1pPr marL="460375" indent="-460375" algn="l" defTabSz="914363" rtl="0" eaLnBrk="1" latinLnBrk="0" hangingPunct="1">
        <a:lnSpc>
          <a:spcPct val="90000"/>
        </a:lnSpc>
        <a:spcBef>
          <a:spcPct val="20000"/>
        </a:spcBef>
        <a:buFontTx/>
        <a:buBlip>
          <a:blip r:embed="rId14"/>
        </a:buBlip>
        <a:defRPr sz="3200" kern="1200">
          <a:solidFill>
            <a:schemeClr val="bg1"/>
          </a:solidFill>
          <a:latin typeface="+mn-lt"/>
          <a:ea typeface="+mn-ea"/>
          <a:cs typeface="+mn-cs"/>
        </a:defRPr>
      </a:lvl1pPr>
      <a:lvl2pPr marL="854075" indent="-393700" algn="l" defTabSz="914363" rtl="0" eaLnBrk="1" latinLnBrk="0" hangingPunct="1">
        <a:lnSpc>
          <a:spcPct val="90000"/>
        </a:lnSpc>
        <a:spcBef>
          <a:spcPct val="20000"/>
        </a:spcBef>
        <a:buFontTx/>
        <a:buBlip>
          <a:blip r:embed="rId15"/>
        </a:buBlip>
        <a:defRPr sz="2800" kern="1200">
          <a:solidFill>
            <a:schemeClr val="bg1"/>
          </a:solidFill>
          <a:latin typeface="+mn-lt"/>
          <a:ea typeface="+mn-ea"/>
          <a:cs typeface="+mn-cs"/>
        </a:defRPr>
      </a:lvl2pPr>
      <a:lvl3pPr marL="1258888" indent="-404813" algn="l" defTabSz="914363" rtl="0" eaLnBrk="1" latinLnBrk="0" hangingPunct="1">
        <a:lnSpc>
          <a:spcPct val="90000"/>
        </a:lnSpc>
        <a:spcBef>
          <a:spcPct val="20000"/>
        </a:spcBef>
        <a:buFontTx/>
        <a:buBlip>
          <a:blip r:embed="rId15"/>
        </a:buBlip>
        <a:defRPr sz="2400" kern="1200">
          <a:solidFill>
            <a:schemeClr val="bg1"/>
          </a:solidFill>
          <a:latin typeface="+mn-lt"/>
          <a:ea typeface="+mn-ea"/>
          <a:cs typeface="+mn-cs"/>
        </a:defRPr>
      </a:lvl3pPr>
      <a:lvl4pPr marL="1655763" indent="-396875" algn="l" defTabSz="914363" rtl="0" eaLnBrk="1" latinLnBrk="0" hangingPunct="1">
        <a:lnSpc>
          <a:spcPct val="90000"/>
        </a:lnSpc>
        <a:spcBef>
          <a:spcPct val="20000"/>
        </a:spcBef>
        <a:buFontTx/>
        <a:buBlip>
          <a:blip r:embed="rId15"/>
        </a:buBlip>
        <a:defRPr sz="2400" kern="1200">
          <a:solidFill>
            <a:schemeClr val="bg1"/>
          </a:solidFill>
          <a:latin typeface="+mn-lt"/>
          <a:ea typeface="+mn-ea"/>
          <a:cs typeface="+mn-cs"/>
        </a:defRPr>
      </a:lvl4pPr>
      <a:lvl5pPr marL="1941513" indent="-400050" algn="l" defTabSz="914363" rtl="0" eaLnBrk="1" latinLnBrk="0" hangingPunct="1">
        <a:lnSpc>
          <a:spcPct val="90000"/>
        </a:lnSpc>
        <a:spcBef>
          <a:spcPct val="20000"/>
        </a:spcBef>
        <a:buFontTx/>
        <a:buBlip>
          <a:blip r:embed="rId15"/>
        </a:buBlip>
        <a:defRPr sz="2400" kern="1200">
          <a:solidFill>
            <a:schemeClr val="bg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srcRect/>
          <a:stretch>
            <a:fillRect/>
          </a:stretch>
        </a:blipFill>
        <a:effectLst/>
      </p:bgPr>
    </p:bg>
    <p:spTree>
      <p:nvGrpSpPr>
        <p:cNvPr id="1" name=""/>
        <p:cNvGrpSpPr/>
        <p:nvPr/>
      </p:nvGrpSpPr>
      <p:grpSpPr>
        <a:xfrm>
          <a:off x="0" y="0"/>
          <a:ext cx="0" cy="0"/>
          <a:chOff x="0" y="0"/>
          <a:chExt cx="0" cy="0"/>
        </a:xfrm>
      </p:grpSpPr>
      <p:pic>
        <p:nvPicPr>
          <p:cNvPr id="4" name="Picture 3" descr="white rectangle.png"/>
          <p:cNvPicPr>
            <a:picLocks noChangeAspect="1"/>
          </p:cNvPicPr>
          <p:nvPr/>
        </p:nvPicPr>
        <p:blipFill>
          <a:blip r:embed="rId4"/>
          <a:srcRect b="10453"/>
          <a:stretch>
            <a:fillRect/>
          </a:stretch>
        </p:blipFill>
        <p:spPr>
          <a:xfrm>
            <a:off x="0" y="1299706"/>
            <a:ext cx="9144000" cy="5558294"/>
          </a:xfrm>
          <a:prstGeom prst="rect">
            <a:avLst/>
          </a:prstGeom>
        </p:spPr>
      </p:pic>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722312" y="1905000"/>
            <a:ext cx="8040688" cy="2108269"/>
          </a:xfrm>
          <a:prstGeom prst="rect">
            <a:avLst/>
          </a:prstGeom>
        </p:spPr>
        <p:txBody>
          <a:bodyPr vert="horz" wrap="square" lIns="0" tIns="0" rIns="0" bIns="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 bg1="lt1" tx1="dk1" bg2="lt2" tx2="dk2" accent1="accent1" accent2="accent2" accent3="accent3" accent4="accent4" accent5="accent5" accent6="accent6" hlink="hlink" folHlink="folHlink"/>
  <p:sldLayoutIdLst>
    <p:sldLayoutId id="2147483674" r:id="rId1"/>
  </p:sldLayoutIdLst>
  <p:transition xmlns:p14="http://schemas.microsoft.com/office/powerpoint/2010/main">
    <p:fade/>
  </p:transition>
  <p:txStyles>
    <p:titleStyle>
      <a:lvl1pPr algn="l" defTabSz="914363" rtl="0" eaLnBrk="1" latinLnBrk="0" hangingPunct="1">
        <a:lnSpc>
          <a:spcPct val="90000"/>
        </a:lnSpc>
        <a:spcBef>
          <a:spcPct val="0"/>
        </a:spcBef>
        <a:buNone/>
        <a:defRPr lang="en-US" sz="4800" b="0" kern="1200" cap="none" spc="-150" dirty="0">
          <a:ln w="3175">
            <a:noFill/>
          </a:ln>
          <a:gradFill flip="none" rotWithShape="1">
            <a:gsLst>
              <a:gs pos="0">
                <a:schemeClr val="accent2">
                  <a:lumMod val="50000"/>
                </a:schemeClr>
              </a:gs>
              <a:gs pos="36000">
                <a:schemeClr val="accent2">
                  <a:lumMod val="75000"/>
                </a:schemeClr>
              </a:gs>
              <a:gs pos="86000">
                <a:schemeClr val="accent2">
                  <a:lumMod val="50000"/>
                </a:schemeClr>
              </a:gs>
            </a:gsLst>
            <a:lin ang="5400000" scaled="0"/>
            <a:tileRect/>
          </a:gradFill>
          <a:effectLst/>
          <a:latin typeface="+mj-lt"/>
          <a:ea typeface="+mn-ea"/>
          <a:cs typeface="Arial" charset="0"/>
        </a:defRPr>
      </a:lvl1pPr>
    </p:titleStyle>
    <p:bodyStyle>
      <a:lvl1pPr marL="0" indent="0" algn="l" defTabSz="914363" rtl="0" eaLnBrk="1" latinLnBrk="0" hangingPunct="1">
        <a:lnSpc>
          <a:spcPct val="90000"/>
        </a:lnSpc>
        <a:spcBef>
          <a:spcPct val="20000"/>
        </a:spcBef>
        <a:buFont typeface="Arial" pitchFamily="34" charset="0"/>
        <a:buNone/>
        <a:defRPr sz="3000" b="1" kern="1200">
          <a:solidFill>
            <a:schemeClr val="tx1"/>
          </a:solidFill>
          <a:latin typeface="Courier New" pitchFamily="49" charset="0"/>
          <a:ea typeface="+mn-ea"/>
          <a:cs typeface="Courier New" pitchFamily="49" charset="0"/>
        </a:defRPr>
      </a:lvl1pPr>
      <a:lvl2pPr marL="384954" indent="-7937" algn="l" defTabSz="914363" rtl="0" eaLnBrk="1" latinLnBrk="0" hangingPunct="1">
        <a:lnSpc>
          <a:spcPct val="90000"/>
        </a:lnSpc>
        <a:spcBef>
          <a:spcPct val="20000"/>
        </a:spcBef>
        <a:buFont typeface="Arial" pitchFamily="34" charset="0"/>
        <a:buNone/>
        <a:defRPr sz="2800" b="1" kern="1200">
          <a:solidFill>
            <a:schemeClr val="tx1"/>
          </a:solidFill>
          <a:latin typeface="Courier New" pitchFamily="49" charset="0"/>
          <a:ea typeface="+mn-ea"/>
          <a:cs typeface="Courier New" pitchFamily="49" charset="0"/>
        </a:defRPr>
      </a:lvl2pPr>
      <a:lvl3pPr marL="761970" indent="-7937"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3pPr>
      <a:lvl4pPr marL="1094009" indent="7937"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4pPr>
      <a:lvl5pPr marL="1426047" indent="0"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4" Type="http://schemas.openxmlformats.org/officeDocument/2006/relationships/chart" Target="../charts/chart4.xml"/><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t>FIFA World </a:t>
            </a:r>
            <a:r>
              <a:rPr lang="en-US" dirty="0" smtClean="0"/>
              <a:t>Cup </a:t>
            </a:r>
            <a:endParaRPr lang="en-US" dirty="0"/>
          </a:p>
        </p:txBody>
      </p:sp>
      <p:sp>
        <p:nvSpPr>
          <p:cNvPr id="3" name="Subtitle 2"/>
          <p:cNvSpPr>
            <a:spLocks noGrp="1"/>
          </p:cNvSpPr>
          <p:nvPr>
            <p:ph type="subTitle" idx="1"/>
          </p:nvPr>
        </p:nvSpPr>
        <p:spPr>
          <a:xfrm>
            <a:off x="762000" y="3881735"/>
            <a:ext cx="7681913" cy="1452265"/>
          </a:xfrm>
        </p:spPr>
        <p:txBody>
          <a:bodyPr>
            <a:normAutofit fontScale="85000" lnSpcReduction="20000"/>
          </a:bodyPr>
          <a:lstStyle/>
          <a:p>
            <a:pPr lvl="0" algn="ctr"/>
            <a:r>
              <a:rPr lang="en-US" dirty="0"/>
              <a:t>Jared </a:t>
            </a:r>
            <a:r>
              <a:rPr lang="en-US" dirty="0" err="1"/>
              <a:t>Barabash</a:t>
            </a:r>
            <a:endParaRPr lang="en-US" dirty="0"/>
          </a:p>
          <a:p>
            <a:pPr lvl="0" algn="ctr"/>
            <a:endParaRPr lang="en-US" dirty="0"/>
          </a:p>
          <a:p>
            <a:pPr lvl="0" algn="ctr"/>
            <a:r>
              <a:rPr lang="en-US" dirty="0"/>
              <a:t>Adar Guy</a:t>
            </a:r>
          </a:p>
          <a:p>
            <a:pPr lvl="0" algn="ctr"/>
            <a:endParaRPr lang="en-US" dirty="0"/>
          </a:p>
          <a:p>
            <a:pPr lvl="0" algn="ctr"/>
            <a:r>
              <a:rPr lang="en-US" dirty="0"/>
              <a:t>Tate </a:t>
            </a:r>
            <a:r>
              <a:rPr lang="en-US" dirty="0" err="1"/>
              <a:t>Nychyporuk</a:t>
            </a:r>
            <a:endParaRPr lang="en-US" dirty="0"/>
          </a:p>
        </p:txBody>
      </p:sp>
    </p:spTree>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What We Looked At</a:t>
            </a:r>
          </a:p>
        </p:txBody>
      </p:sp>
      <p:sp>
        <p:nvSpPr>
          <p:cNvPr id="3" name="Text Placeholder 2"/>
          <p:cNvSpPr>
            <a:spLocks noGrp="1"/>
          </p:cNvSpPr>
          <p:nvPr>
            <p:ph type="body" sz="quarter" idx="10"/>
          </p:nvPr>
        </p:nvSpPr>
        <p:spPr>
          <a:xfrm>
            <a:off x="381000" y="1411552"/>
            <a:ext cx="8382000" cy="3724096"/>
          </a:xfrm>
        </p:spPr>
        <p:txBody>
          <a:bodyPr/>
          <a:lstStyle/>
          <a:p>
            <a:pPr lvl="0"/>
            <a:r>
              <a:rPr lang="en-US" dirty="0" smtClean="0"/>
              <a:t>FIFA </a:t>
            </a:r>
            <a:r>
              <a:rPr lang="en-US" dirty="0"/>
              <a:t>World Cup stats</a:t>
            </a:r>
          </a:p>
          <a:p>
            <a:pPr lvl="0"/>
            <a:r>
              <a:rPr lang="en-US" dirty="0"/>
              <a:t>1930 – </a:t>
            </a:r>
            <a:r>
              <a:rPr lang="en-US" dirty="0" smtClean="0"/>
              <a:t>2006, 2010 - 2014</a:t>
            </a:r>
            <a:endParaRPr lang="en-US" dirty="0"/>
          </a:p>
          <a:p>
            <a:pPr lvl="0"/>
            <a:r>
              <a:rPr lang="en-US" dirty="0"/>
              <a:t>Hoped to find</a:t>
            </a:r>
          </a:p>
          <a:p>
            <a:pPr lvl="1"/>
            <a:r>
              <a:rPr lang="en-US" dirty="0"/>
              <a:t>Prominent stats of cup-winning teams</a:t>
            </a:r>
          </a:p>
          <a:p>
            <a:pPr lvl="1"/>
            <a:r>
              <a:rPr lang="en-US" dirty="0"/>
              <a:t>Trends within the stats since the emergence of the World </a:t>
            </a:r>
            <a:r>
              <a:rPr lang="en-US" dirty="0" smtClean="0"/>
              <a:t>Cup</a:t>
            </a:r>
          </a:p>
          <a:p>
            <a:pPr lvl="1"/>
            <a:r>
              <a:rPr lang="en-US" dirty="0" smtClean="0"/>
              <a:t>Interesting attributes other than (matches played, wins/losses, etc.)</a:t>
            </a:r>
            <a:endParaRPr lang="en-US" dirty="0"/>
          </a:p>
        </p:txBody>
      </p:sp>
    </p:spTree>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30188"/>
            <a:ext cx="8382000" cy="1163395"/>
          </a:xfrm>
        </p:spPr>
        <p:txBody>
          <a:bodyPr>
            <a:normAutofit fontScale="90000"/>
          </a:bodyPr>
          <a:lstStyle/>
          <a:p>
            <a:pPr lvl="0"/>
            <a:r>
              <a:rPr lang="en-US" dirty="0"/>
              <a:t>Data Gathering</a:t>
            </a:r>
            <a:br>
              <a:rPr lang="en-US" dirty="0"/>
            </a:br>
            <a:endParaRPr lang="en-US" dirty="0">
              <a:solidFill>
                <a:schemeClr val="accent2"/>
              </a:solidFill>
            </a:endParaRPr>
          </a:p>
        </p:txBody>
      </p:sp>
      <p:sp>
        <p:nvSpPr>
          <p:cNvPr id="3" name="Text Placeholder 2"/>
          <p:cNvSpPr>
            <a:spLocks noGrp="1"/>
          </p:cNvSpPr>
          <p:nvPr>
            <p:ph type="body" sz="quarter" idx="10"/>
          </p:nvPr>
        </p:nvSpPr>
        <p:spPr>
          <a:xfrm>
            <a:off x="395536" y="980729"/>
            <a:ext cx="8382000" cy="2016224"/>
          </a:xfrm>
        </p:spPr>
        <p:txBody>
          <a:bodyPr>
            <a:normAutofit/>
          </a:bodyPr>
          <a:lstStyle/>
          <a:p>
            <a:pPr lvl="0">
              <a:buNone/>
            </a:pPr>
            <a:endParaRPr lang="en-US" sz="2400" dirty="0"/>
          </a:p>
          <a:p>
            <a:pPr lvl="0"/>
            <a:r>
              <a:rPr lang="en-US" sz="2400" dirty="0" smtClean="0"/>
              <a:t>Open source datasets from </a:t>
            </a:r>
            <a:r>
              <a:rPr lang="en-US" sz="2400" dirty="0" err="1" smtClean="0"/>
              <a:t>Github</a:t>
            </a:r>
            <a:r>
              <a:rPr lang="en-US" sz="2400" dirty="0" smtClean="0"/>
              <a:t> and </a:t>
            </a:r>
            <a:r>
              <a:rPr lang="en-US" sz="2400" dirty="0" err="1" smtClean="0"/>
              <a:t>Fifa</a:t>
            </a:r>
            <a:endParaRPr lang="en-US" sz="2400" dirty="0"/>
          </a:p>
          <a:p>
            <a:pPr lvl="0"/>
            <a:r>
              <a:rPr lang="en-US" sz="2400" dirty="0" smtClean="0"/>
              <a:t>Stats like shots wide, free kicks, </a:t>
            </a:r>
            <a:r>
              <a:rPr lang="en-US" sz="2400" dirty="0" err="1" smtClean="0"/>
              <a:t>offsides</a:t>
            </a:r>
            <a:r>
              <a:rPr lang="en-US" sz="2400" dirty="0" smtClean="0"/>
              <a:t>, were hard to obtain from Cups previous to 2002</a:t>
            </a:r>
          </a:p>
          <a:p>
            <a:pPr lvl="0"/>
            <a:endParaRPr lang="en-US" sz="2400" dirty="0"/>
          </a:p>
        </p:txBody>
      </p:sp>
      <p:sp>
        <p:nvSpPr>
          <p:cNvPr id="4" name="Rectangle 3"/>
          <p:cNvSpPr/>
          <p:nvPr/>
        </p:nvSpPr>
        <p:spPr>
          <a:xfrm>
            <a:off x="755576" y="3933056"/>
            <a:ext cx="7848872" cy="2554545"/>
          </a:xfrm>
          <a:prstGeom prst="rect">
            <a:avLst/>
          </a:prstGeom>
        </p:spPr>
        <p:txBody>
          <a:bodyPr wrap="square">
            <a:spAutoFit/>
          </a:bodyPr>
          <a:lstStyle/>
          <a:p>
            <a:r>
              <a:rPr lang="en-US" sz="2000" dirty="0">
                <a:solidFill>
                  <a:schemeClr val="bg1"/>
                </a:solidFill>
              </a:rPr>
              <a:t>1930,Romania ,RO,3,5,0,2,3,0,0,0,0,1,0,1</a:t>
            </a:r>
          </a:p>
          <a:p>
            <a:r>
              <a:rPr lang="en-US" sz="2000" dirty="0">
                <a:solidFill>
                  <a:schemeClr val="bg1"/>
                </a:solidFill>
              </a:rPr>
              <a:t>1930,Paraguay ,PY,1,3,0,2,1,0,0,0,0,1,0,1</a:t>
            </a:r>
          </a:p>
          <a:p>
            <a:r>
              <a:rPr lang="en-US" sz="2000" dirty="0">
                <a:solidFill>
                  <a:schemeClr val="bg1"/>
                </a:solidFill>
              </a:rPr>
              <a:t>1930,Peru ,PE,1,4,0,2,1,0,0,0,0,0,0,2</a:t>
            </a:r>
          </a:p>
          <a:p>
            <a:r>
              <a:rPr lang="en-US" sz="2000" dirty="0">
                <a:solidFill>
                  <a:schemeClr val="bg1"/>
                </a:solidFill>
              </a:rPr>
              <a:t>1930,Belgium,BE,0,4,0,2,0,0,0,0,0,0,0,2</a:t>
            </a:r>
          </a:p>
          <a:p>
            <a:r>
              <a:rPr lang="en-US" sz="2000" dirty="0">
                <a:solidFill>
                  <a:schemeClr val="bg1"/>
                </a:solidFill>
              </a:rPr>
              <a:t>1930,Bolivia,BO,0,8,0,2,0,0,0,0,0,0,0,2</a:t>
            </a:r>
          </a:p>
          <a:p>
            <a:r>
              <a:rPr lang="en-US" sz="2000" dirty="0">
                <a:solidFill>
                  <a:schemeClr val="bg1"/>
                </a:solidFill>
              </a:rPr>
              <a:t>1934,Italy,IT,12,3,0,5,12,0,0,0,0,4,1,0</a:t>
            </a:r>
          </a:p>
          <a:p>
            <a:r>
              <a:rPr lang="en-US" sz="2000" dirty="0">
                <a:solidFill>
                  <a:schemeClr val="bg1"/>
                </a:solidFill>
              </a:rPr>
              <a:t>1934,Germany ,DE,11,8,0,4,11,0,0,0,0,3,0,1</a:t>
            </a:r>
          </a:p>
          <a:p>
            <a:r>
              <a:rPr lang="en-US" sz="2000" dirty="0">
                <a:solidFill>
                  <a:schemeClr val="bg1"/>
                </a:solidFill>
              </a:rPr>
              <a:t>1934,Czechoslovakia ,CS,9,6,0,4,9,0,0,0,0,3,0,1</a:t>
            </a:r>
          </a:p>
        </p:txBody>
      </p:sp>
      <p:sp>
        <p:nvSpPr>
          <p:cNvPr id="7" name="Rectangle 6"/>
          <p:cNvSpPr/>
          <p:nvPr/>
        </p:nvSpPr>
        <p:spPr>
          <a:xfrm>
            <a:off x="755576" y="2996952"/>
            <a:ext cx="6156176" cy="923330"/>
          </a:xfrm>
          <a:prstGeom prst="rect">
            <a:avLst/>
          </a:prstGeom>
        </p:spPr>
        <p:txBody>
          <a:bodyPr wrap="square">
            <a:spAutoFit/>
          </a:bodyPr>
          <a:lstStyle/>
          <a:p>
            <a:r>
              <a:rPr lang="en-US" dirty="0" err="1">
                <a:solidFill>
                  <a:srgbClr val="000000"/>
                </a:solidFill>
              </a:rPr>
              <a:t>Year,Team</a:t>
            </a:r>
            <a:r>
              <a:rPr lang="en-US" dirty="0">
                <a:solidFill>
                  <a:srgbClr val="000000"/>
                </a:solidFill>
              </a:rPr>
              <a:t> (winner in bold),ISO code*,Goals </a:t>
            </a:r>
            <a:r>
              <a:rPr lang="en-US" dirty="0" err="1">
                <a:solidFill>
                  <a:srgbClr val="000000"/>
                </a:solidFill>
              </a:rPr>
              <a:t>for,Goals</a:t>
            </a:r>
            <a:r>
              <a:rPr lang="en-US" dirty="0">
                <a:solidFill>
                  <a:srgbClr val="000000"/>
                </a:solidFill>
              </a:rPr>
              <a:t> </a:t>
            </a:r>
            <a:r>
              <a:rPr lang="en-US" dirty="0" err="1">
                <a:solidFill>
                  <a:srgbClr val="000000"/>
                </a:solidFill>
              </a:rPr>
              <a:t>against,Penalties,Matches,Shots</a:t>
            </a:r>
            <a:r>
              <a:rPr lang="en-US" dirty="0">
                <a:solidFill>
                  <a:srgbClr val="000000"/>
                </a:solidFill>
              </a:rPr>
              <a:t> on goal**,Shots wide**,Free kicks**,Offside**,Corners**,</a:t>
            </a:r>
            <a:r>
              <a:rPr lang="en-US" dirty="0" err="1">
                <a:solidFill>
                  <a:srgbClr val="000000"/>
                </a:solidFill>
              </a:rPr>
              <a:t>Won,Drawn,Lost</a:t>
            </a:r>
            <a:endParaRPr lang="en-US" dirty="0">
              <a:solidFill>
                <a:srgbClr val="000000"/>
              </a:solidFill>
            </a:endParaRPr>
          </a:p>
        </p:txBody>
      </p:sp>
    </p:spTree>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30188"/>
            <a:ext cx="8382000" cy="1163395"/>
          </a:xfrm>
        </p:spPr>
        <p:txBody>
          <a:bodyPr>
            <a:normAutofit fontScale="90000"/>
          </a:bodyPr>
          <a:lstStyle/>
          <a:p>
            <a:r>
              <a:rPr lang="en-US" dirty="0"/>
              <a:t>Pre-processing</a:t>
            </a:r>
            <a:br>
              <a:rPr lang="en-US" dirty="0"/>
            </a:br>
            <a:endParaRPr lang="en-US" dirty="0">
              <a:solidFill>
                <a:schemeClr val="accent2"/>
              </a:solidFill>
            </a:endParaRPr>
          </a:p>
        </p:txBody>
      </p:sp>
      <p:sp>
        <p:nvSpPr>
          <p:cNvPr id="3" name="Text Placeholder 2"/>
          <p:cNvSpPr>
            <a:spLocks noGrp="1"/>
          </p:cNvSpPr>
          <p:nvPr>
            <p:ph type="body" sz="quarter" idx="10"/>
          </p:nvPr>
        </p:nvSpPr>
        <p:spPr>
          <a:xfrm>
            <a:off x="395536" y="980729"/>
            <a:ext cx="8382000" cy="2520280"/>
          </a:xfrm>
        </p:spPr>
        <p:txBody>
          <a:bodyPr>
            <a:normAutofit/>
          </a:bodyPr>
          <a:lstStyle/>
          <a:p>
            <a:pPr lvl="0"/>
            <a:r>
              <a:rPr lang="en-US" dirty="0" smtClean="0"/>
              <a:t>Converted </a:t>
            </a:r>
            <a:r>
              <a:rPr lang="en-US" dirty="0"/>
              <a:t>data set to be compatible with Weka</a:t>
            </a:r>
          </a:p>
          <a:p>
            <a:pPr lvl="0"/>
            <a:r>
              <a:rPr lang="en-US" dirty="0"/>
              <a:t>Removed unnecessary attributes (i.e. every team had a name as well as an ISO tag)</a:t>
            </a:r>
          </a:p>
          <a:p>
            <a:pPr lvl="0"/>
            <a:r>
              <a:rPr lang="en-US" dirty="0"/>
              <a:t>Added class to all tuples (final tournament placement</a:t>
            </a:r>
            <a:r>
              <a:rPr lang="en-US" dirty="0" smtClean="0"/>
              <a:t>)</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969674544"/>
              </p:ext>
            </p:extLst>
          </p:nvPr>
        </p:nvGraphicFramePr>
        <p:xfrm>
          <a:off x="467544" y="3717032"/>
          <a:ext cx="7920882" cy="2222500"/>
        </p:xfrm>
        <a:graphic>
          <a:graphicData uri="http://schemas.openxmlformats.org/drawingml/2006/table">
            <a:tbl>
              <a:tblPr/>
              <a:tblGrid>
                <a:gridCol w="1320147"/>
                <a:gridCol w="1704189"/>
                <a:gridCol w="936105"/>
                <a:gridCol w="1320147"/>
                <a:gridCol w="1320147"/>
                <a:gridCol w="1320147"/>
              </a:tblGrid>
              <a:tr h="190500">
                <a:tc>
                  <a:txBody>
                    <a:bodyPr/>
                    <a:lstStyle/>
                    <a:p>
                      <a:pPr algn="ctr" fontAlgn="b"/>
                      <a:r>
                        <a:rPr lang="en-US" sz="2000" b="0" i="0" u="none" strike="noStrike">
                          <a:solidFill>
                            <a:srgbClr val="000000"/>
                          </a:solidFill>
                          <a:effectLst/>
                          <a:latin typeface="Calibri"/>
                        </a:rPr>
                        <a:t>1930</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Romania </a:t>
                      </a:r>
                    </a:p>
                  </a:txBody>
                  <a:tcPr marL="12700" marR="12700" marT="12700" marB="0" anchor="b">
                    <a:lnL>
                      <a:noFill/>
                    </a:lnL>
                    <a:lnR>
                      <a:noFill/>
                    </a:lnR>
                    <a:lnT>
                      <a:noFill/>
                    </a:lnT>
                    <a:lnB>
                      <a:noFill/>
                    </a:lnB>
                  </a:tcPr>
                </a:tc>
                <a:tc>
                  <a:txBody>
                    <a:bodyPr/>
                    <a:lstStyle/>
                    <a:p>
                      <a:pPr algn="ctr" fontAlgn="b"/>
                      <a:r>
                        <a:rPr lang="en-US" sz="2000" b="0" i="0" u="none" strike="noStrike" dirty="0">
                          <a:solidFill>
                            <a:srgbClr val="000000"/>
                          </a:solidFill>
                          <a:effectLst/>
                          <a:latin typeface="Calibri"/>
                        </a:rPr>
                        <a:t>3.9</a:t>
                      </a:r>
                    </a:p>
                  </a:txBody>
                  <a:tcPr marL="12700" marR="12700" marT="12700" marB="0" anchor="b">
                    <a:lnL>
                      <a:noFill/>
                    </a:lnL>
                    <a:lnR>
                      <a:noFill/>
                    </a:lnR>
                    <a:lnT>
                      <a:noFill/>
                    </a:lnT>
                    <a:lnB>
                      <a:noFill/>
                    </a:lnB>
                  </a:tcPr>
                </a:tc>
                <a:tc>
                  <a:txBody>
                    <a:bodyPr/>
                    <a:lstStyle/>
                    <a:p>
                      <a:pPr algn="ctr" fontAlgn="b"/>
                      <a:r>
                        <a:rPr lang="en-US" sz="2000" b="0" i="0" u="none" strike="noStrike" dirty="0">
                          <a:solidFill>
                            <a:srgbClr val="000000"/>
                          </a:solidFill>
                          <a:effectLst/>
                          <a:latin typeface="Calibri"/>
                        </a:rPr>
                        <a:t>2.5</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no</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None</a:t>
                      </a:r>
                    </a:p>
                  </a:txBody>
                  <a:tcPr marL="12700" marR="12700" marT="12700" marB="0" anchor="b">
                    <a:lnL>
                      <a:noFill/>
                    </a:lnL>
                    <a:lnR>
                      <a:noFill/>
                    </a:lnR>
                    <a:lnT>
                      <a:noFill/>
                    </a:lnT>
                    <a:lnB>
                      <a:noFill/>
                    </a:lnB>
                  </a:tcPr>
                </a:tc>
              </a:tr>
              <a:tr h="190500">
                <a:tc>
                  <a:txBody>
                    <a:bodyPr/>
                    <a:lstStyle/>
                    <a:p>
                      <a:pPr algn="ctr" fontAlgn="b"/>
                      <a:r>
                        <a:rPr lang="en-US" sz="2000" b="0" i="0" u="none" strike="noStrike">
                          <a:solidFill>
                            <a:srgbClr val="000000"/>
                          </a:solidFill>
                          <a:effectLst/>
                          <a:latin typeface="Calibri"/>
                        </a:rPr>
                        <a:t>1930</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Uruguay </a:t>
                      </a:r>
                    </a:p>
                  </a:txBody>
                  <a:tcPr marL="12700" marR="12700" marT="12700" marB="0" anchor="b">
                    <a:lnL>
                      <a:noFill/>
                    </a:lnL>
                    <a:lnR>
                      <a:noFill/>
                    </a:lnR>
                    <a:lnT>
                      <a:noFill/>
                    </a:lnT>
                    <a:lnB>
                      <a:noFill/>
                    </a:lnB>
                  </a:tcPr>
                </a:tc>
                <a:tc>
                  <a:txBody>
                    <a:bodyPr/>
                    <a:lstStyle/>
                    <a:p>
                      <a:pPr algn="ctr" fontAlgn="b"/>
                      <a:r>
                        <a:rPr lang="en-US" sz="2000" b="0" i="0" u="none" strike="noStrike" dirty="0">
                          <a:solidFill>
                            <a:srgbClr val="000000"/>
                          </a:solidFill>
                          <a:effectLst/>
                          <a:latin typeface="Calibri"/>
                        </a:rPr>
                        <a:t>6.1</a:t>
                      </a:r>
                    </a:p>
                  </a:txBody>
                  <a:tcPr marL="12700" marR="12700" marT="12700" marB="0" anchor="b">
                    <a:lnL>
                      <a:noFill/>
                    </a:lnL>
                    <a:lnR>
                      <a:noFill/>
                    </a:lnR>
                    <a:lnT>
                      <a:noFill/>
                    </a:lnT>
                    <a:lnB>
                      <a:noFill/>
                    </a:lnB>
                  </a:tcPr>
                </a:tc>
                <a:tc>
                  <a:txBody>
                    <a:bodyPr/>
                    <a:lstStyle/>
                    <a:p>
                      <a:pPr algn="ctr" fontAlgn="b"/>
                      <a:r>
                        <a:rPr lang="en-US" sz="2000" b="0" i="0" u="none" strike="noStrike" dirty="0">
                          <a:solidFill>
                            <a:srgbClr val="000000"/>
                          </a:solidFill>
                          <a:effectLst/>
                          <a:latin typeface="Calibri"/>
                        </a:rPr>
                        <a:t>0.8</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yes</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First</a:t>
                      </a:r>
                    </a:p>
                  </a:txBody>
                  <a:tcPr marL="12700" marR="12700" marT="12700" marB="0" anchor="b">
                    <a:lnL>
                      <a:noFill/>
                    </a:lnL>
                    <a:lnR>
                      <a:noFill/>
                    </a:lnR>
                    <a:lnT>
                      <a:noFill/>
                    </a:lnT>
                    <a:lnB>
                      <a:noFill/>
                    </a:lnB>
                  </a:tcPr>
                </a:tc>
              </a:tr>
              <a:tr h="190500">
                <a:tc>
                  <a:txBody>
                    <a:bodyPr/>
                    <a:lstStyle/>
                    <a:p>
                      <a:pPr algn="ctr" fontAlgn="b"/>
                      <a:r>
                        <a:rPr lang="en-US" sz="2000" b="0" i="0" u="none" strike="noStrike">
                          <a:solidFill>
                            <a:srgbClr val="000000"/>
                          </a:solidFill>
                          <a:effectLst/>
                          <a:latin typeface="Calibri"/>
                        </a:rPr>
                        <a:t>1930</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USA </a:t>
                      </a:r>
                    </a:p>
                  </a:txBody>
                  <a:tcPr marL="12700" marR="12700" marT="12700" marB="0" anchor="b">
                    <a:lnL>
                      <a:noFill/>
                    </a:lnL>
                    <a:lnR>
                      <a:noFill/>
                    </a:lnR>
                    <a:lnT>
                      <a:noFill/>
                    </a:lnT>
                    <a:lnB>
                      <a:noFill/>
                    </a:lnB>
                  </a:tcPr>
                </a:tc>
                <a:tc>
                  <a:txBody>
                    <a:bodyPr/>
                    <a:lstStyle/>
                    <a:p>
                      <a:pPr algn="ctr" fontAlgn="b"/>
                      <a:r>
                        <a:rPr lang="en-US" sz="2000" b="0" i="0" u="none" strike="noStrike" dirty="0">
                          <a:solidFill>
                            <a:srgbClr val="000000"/>
                          </a:solidFill>
                          <a:effectLst/>
                          <a:latin typeface="Calibri"/>
                        </a:rPr>
                        <a:t>4.3</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2</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no</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Third</a:t>
                      </a:r>
                    </a:p>
                  </a:txBody>
                  <a:tcPr marL="12700" marR="12700" marT="12700" marB="0" anchor="b">
                    <a:lnL>
                      <a:noFill/>
                    </a:lnL>
                    <a:lnR>
                      <a:noFill/>
                    </a:lnR>
                    <a:lnT>
                      <a:noFill/>
                    </a:lnT>
                    <a:lnB>
                      <a:noFill/>
                    </a:lnB>
                  </a:tcPr>
                </a:tc>
              </a:tr>
              <a:tr h="190500">
                <a:tc>
                  <a:txBody>
                    <a:bodyPr/>
                    <a:lstStyle/>
                    <a:p>
                      <a:pPr algn="ctr" fontAlgn="b"/>
                      <a:r>
                        <a:rPr lang="en-US" sz="2000" b="0" i="0" u="none" strike="noStrike">
                          <a:solidFill>
                            <a:srgbClr val="000000"/>
                          </a:solidFill>
                          <a:effectLst/>
                          <a:latin typeface="Calibri"/>
                        </a:rPr>
                        <a:t>1930</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Yugoslavia</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2.6</a:t>
                      </a:r>
                    </a:p>
                  </a:txBody>
                  <a:tcPr marL="12700" marR="12700" marT="12700" marB="0" anchor="b">
                    <a:lnL>
                      <a:noFill/>
                    </a:lnL>
                    <a:lnR>
                      <a:noFill/>
                    </a:lnR>
                    <a:lnT>
                      <a:noFill/>
                    </a:lnT>
                    <a:lnB>
                      <a:noFill/>
                    </a:lnB>
                  </a:tcPr>
                </a:tc>
                <a:tc>
                  <a:txBody>
                    <a:bodyPr/>
                    <a:lstStyle/>
                    <a:p>
                      <a:pPr algn="ctr" fontAlgn="b"/>
                      <a:r>
                        <a:rPr lang="en-US" sz="2000" b="0" i="0" u="none" strike="noStrike" dirty="0">
                          <a:solidFill>
                            <a:srgbClr val="000000"/>
                          </a:solidFill>
                          <a:effectLst/>
                          <a:latin typeface="Calibri"/>
                        </a:rPr>
                        <a:t>2.4</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no</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None</a:t>
                      </a:r>
                    </a:p>
                  </a:txBody>
                  <a:tcPr marL="12700" marR="12700" marT="12700" marB="0" anchor="b">
                    <a:lnL>
                      <a:noFill/>
                    </a:lnL>
                    <a:lnR>
                      <a:noFill/>
                    </a:lnR>
                    <a:lnT>
                      <a:noFill/>
                    </a:lnT>
                    <a:lnB>
                      <a:noFill/>
                    </a:lnB>
                  </a:tcPr>
                </a:tc>
              </a:tr>
              <a:tr h="190500">
                <a:tc>
                  <a:txBody>
                    <a:bodyPr/>
                    <a:lstStyle/>
                    <a:p>
                      <a:pPr algn="ctr" fontAlgn="b"/>
                      <a:r>
                        <a:rPr lang="en-US" sz="2000" b="0" i="0" u="none" strike="noStrike">
                          <a:solidFill>
                            <a:srgbClr val="000000"/>
                          </a:solidFill>
                          <a:effectLst/>
                          <a:latin typeface="Calibri"/>
                        </a:rPr>
                        <a:t>1934</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Italy</a:t>
                      </a:r>
                    </a:p>
                  </a:txBody>
                  <a:tcPr marL="12700" marR="12700" marT="12700" marB="0" anchor="b">
                    <a:lnL>
                      <a:noFill/>
                    </a:lnL>
                    <a:lnR>
                      <a:noFill/>
                    </a:lnR>
                    <a:lnT>
                      <a:noFill/>
                    </a:lnT>
                    <a:lnB>
                      <a:noFill/>
                    </a:lnB>
                  </a:tcPr>
                </a:tc>
                <a:tc>
                  <a:txBody>
                    <a:bodyPr/>
                    <a:lstStyle/>
                    <a:p>
                      <a:pPr algn="ctr" fontAlgn="b"/>
                      <a:r>
                        <a:rPr lang="en-US" sz="2000" b="0" i="0" u="none" strike="noStrike" dirty="0">
                          <a:solidFill>
                            <a:srgbClr val="000000"/>
                          </a:solidFill>
                          <a:effectLst/>
                          <a:latin typeface="Calibri"/>
                        </a:rPr>
                        <a:t>5.1</a:t>
                      </a:r>
                    </a:p>
                  </a:txBody>
                  <a:tcPr marL="12700" marR="12700" marT="12700" marB="0" anchor="b">
                    <a:lnL>
                      <a:noFill/>
                    </a:lnL>
                    <a:lnR>
                      <a:noFill/>
                    </a:lnR>
                    <a:lnT>
                      <a:noFill/>
                    </a:lnT>
                    <a:lnB>
                      <a:noFill/>
                    </a:lnB>
                  </a:tcPr>
                </a:tc>
                <a:tc>
                  <a:txBody>
                    <a:bodyPr/>
                    <a:lstStyle/>
                    <a:p>
                      <a:pPr algn="ctr" fontAlgn="b"/>
                      <a:r>
                        <a:rPr lang="en-US" sz="2000" b="0" i="0" u="none" strike="noStrike" dirty="0">
                          <a:solidFill>
                            <a:srgbClr val="000000"/>
                          </a:solidFill>
                          <a:effectLst/>
                          <a:latin typeface="Calibri"/>
                        </a:rPr>
                        <a:t>0.6</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yes</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First</a:t>
                      </a:r>
                    </a:p>
                  </a:txBody>
                  <a:tcPr marL="12700" marR="12700" marT="12700" marB="0" anchor="b">
                    <a:lnL>
                      <a:noFill/>
                    </a:lnL>
                    <a:lnR>
                      <a:noFill/>
                    </a:lnR>
                    <a:lnT>
                      <a:noFill/>
                    </a:lnT>
                    <a:lnB>
                      <a:noFill/>
                    </a:lnB>
                  </a:tcPr>
                </a:tc>
              </a:tr>
              <a:tr h="190500">
                <a:tc>
                  <a:txBody>
                    <a:bodyPr/>
                    <a:lstStyle/>
                    <a:p>
                      <a:pPr algn="ctr" fontAlgn="b"/>
                      <a:r>
                        <a:rPr lang="en-US" sz="2000" b="0" i="0" u="none" strike="noStrike">
                          <a:solidFill>
                            <a:srgbClr val="000000"/>
                          </a:solidFill>
                          <a:effectLst/>
                          <a:latin typeface="Calibri"/>
                        </a:rPr>
                        <a:t>1934</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Germany </a:t>
                      </a:r>
                    </a:p>
                  </a:txBody>
                  <a:tcPr marL="12700" marR="12700" marT="12700" marB="0" anchor="b">
                    <a:lnL>
                      <a:noFill/>
                    </a:lnL>
                    <a:lnR>
                      <a:noFill/>
                    </a:lnR>
                    <a:lnT>
                      <a:noFill/>
                    </a:lnT>
                    <a:lnB>
                      <a:noFill/>
                    </a:lnB>
                  </a:tcPr>
                </a:tc>
                <a:tc>
                  <a:txBody>
                    <a:bodyPr/>
                    <a:lstStyle/>
                    <a:p>
                      <a:pPr algn="ctr" fontAlgn="b"/>
                      <a:r>
                        <a:rPr lang="en-US" sz="2000" b="0" i="0" u="none" strike="noStrike" dirty="0">
                          <a:solidFill>
                            <a:srgbClr val="000000"/>
                          </a:solidFill>
                          <a:effectLst/>
                          <a:latin typeface="Calibri"/>
                        </a:rPr>
                        <a:t>4.7</a:t>
                      </a:r>
                    </a:p>
                  </a:txBody>
                  <a:tcPr marL="12700" marR="12700" marT="12700" marB="0" anchor="b">
                    <a:lnL>
                      <a:noFill/>
                    </a:lnL>
                    <a:lnR>
                      <a:noFill/>
                    </a:lnR>
                    <a:lnT>
                      <a:noFill/>
                    </a:lnT>
                    <a:lnB>
                      <a:noFill/>
                    </a:lnB>
                  </a:tcPr>
                </a:tc>
                <a:tc>
                  <a:txBody>
                    <a:bodyPr/>
                    <a:lstStyle/>
                    <a:p>
                      <a:pPr algn="ctr" fontAlgn="b"/>
                      <a:r>
                        <a:rPr lang="en-US" sz="2000" b="0" i="0" u="none" strike="noStrike" dirty="0">
                          <a:solidFill>
                            <a:srgbClr val="000000"/>
                          </a:solidFill>
                          <a:effectLst/>
                          <a:latin typeface="Calibri"/>
                        </a:rPr>
                        <a:t>2</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no</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Third</a:t>
                      </a:r>
                    </a:p>
                  </a:txBody>
                  <a:tcPr marL="12700" marR="12700" marT="12700" marB="0" anchor="b">
                    <a:lnL>
                      <a:noFill/>
                    </a:lnL>
                    <a:lnR>
                      <a:noFill/>
                    </a:lnR>
                    <a:lnT>
                      <a:noFill/>
                    </a:lnT>
                    <a:lnB>
                      <a:noFill/>
                    </a:lnB>
                  </a:tcPr>
                </a:tc>
              </a:tr>
              <a:tr h="190500">
                <a:tc>
                  <a:txBody>
                    <a:bodyPr/>
                    <a:lstStyle/>
                    <a:p>
                      <a:pPr algn="ctr" fontAlgn="b"/>
                      <a:r>
                        <a:rPr lang="en-US" sz="2000" b="0" i="0" u="none" strike="noStrike">
                          <a:solidFill>
                            <a:srgbClr val="000000"/>
                          </a:solidFill>
                          <a:effectLst/>
                          <a:latin typeface="Calibri"/>
                        </a:rPr>
                        <a:t>1934</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Czechoslovakia </a:t>
                      </a:r>
                    </a:p>
                  </a:txBody>
                  <a:tcPr marL="12700" marR="12700" marT="12700" marB="0" anchor="b">
                    <a:lnL>
                      <a:noFill/>
                    </a:lnL>
                    <a:lnR>
                      <a:noFill/>
                    </a:lnR>
                    <a:lnT>
                      <a:noFill/>
                    </a:lnT>
                    <a:lnB>
                      <a:noFill/>
                    </a:lnB>
                  </a:tcPr>
                </a:tc>
                <a:tc>
                  <a:txBody>
                    <a:bodyPr/>
                    <a:lstStyle/>
                    <a:p>
                      <a:pPr algn="ctr" fontAlgn="b"/>
                      <a:r>
                        <a:rPr lang="en-US" sz="2000" b="0" i="0" u="none" strike="noStrike" dirty="0">
                          <a:solidFill>
                            <a:srgbClr val="000000"/>
                          </a:solidFill>
                          <a:effectLst/>
                          <a:latin typeface="Calibri"/>
                        </a:rPr>
                        <a:t>5.2</a:t>
                      </a:r>
                    </a:p>
                  </a:txBody>
                  <a:tcPr marL="12700" marR="12700" marT="12700" marB="0" anchor="b">
                    <a:lnL>
                      <a:noFill/>
                    </a:lnL>
                    <a:lnR>
                      <a:noFill/>
                    </a:lnR>
                    <a:lnT>
                      <a:noFill/>
                    </a:lnT>
                    <a:lnB>
                      <a:noFill/>
                    </a:lnB>
                  </a:tcPr>
                </a:tc>
                <a:tc>
                  <a:txBody>
                    <a:bodyPr/>
                    <a:lstStyle/>
                    <a:p>
                      <a:pPr algn="ctr" fontAlgn="b"/>
                      <a:r>
                        <a:rPr lang="en-US" sz="2000" b="0" i="0" u="none" strike="noStrike" dirty="0">
                          <a:solidFill>
                            <a:srgbClr val="000000"/>
                          </a:solidFill>
                          <a:effectLst/>
                          <a:latin typeface="Calibri"/>
                        </a:rPr>
                        <a:t>1.5</a:t>
                      </a:r>
                    </a:p>
                  </a:txBody>
                  <a:tcPr marL="12700" marR="12700" marT="12700" marB="0" anchor="b">
                    <a:lnL>
                      <a:noFill/>
                    </a:lnL>
                    <a:lnR>
                      <a:noFill/>
                    </a:lnR>
                    <a:lnT>
                      <a:noFill/>
                    </a:lnT>
                    <a:lnB>
                      <a:noFill/>
                    </a:lnB>
                  </a:tcPr>
                </a:tc>
                <a:tc>
                  <a:txBody>
                    <a:bodyPr/>
                    <a:lstStyle/>
                    <a:p>
                      <a:pPr algn="ctr" fontAlgn="b"/>
                      <a:r>
                        <a:rPr lang="en-US" sz="2000" b="0" i="0" u="none" strike="noStrike">
                          <a:solidFill>
                            <a:srgbClr val="000000"/>
                          </a:solidFill>
                          <a:effectLst/>
                          <a:latin typeface="Calibri"/>
                        </a:rPr>
                        <a:t>no</a:t>
                      </a:r>
                    </a:p>
                  </a:txBody>
                  <a:tcPr marL="12700" marR="12700" marT="12700" marB="0" anchor="b">
                    <a:lnL>
                      <a:noFill/>
                    </a:lnL>
                    <a:lnR>
                      <a:noFill/>
                    </a:lnR>
                    <a:lnT>
                      <a:noFill/>
                    </a:lnT>
                    <a:lnB>
                      <a:noFill/>
                    </a:lnB>
                  </a:tcPr>
                </a:tc>
                <a:tc>
                  <a:txBody>
                    <a:bodyPr/>
                    <a:lstStyle/>
                    <a:p>
                      <a:pPr algn="ctr" fontAlgn="b"/>
                      <a:r>
                        <a:rPr lang="en-US" sz="2000" b="0" i="0" u="none" strike="noStrike" dirty="0">
                          <a:solidFill>
                            <a:srgbClr val="000000"/>
                          </a:solidFill>
                          <a:effectLst/>
                          <a:latin typeface="Calibri"/>
                        </a:rPr>
                        <a:t>Second</a:t>
                      </a:r>
                    </a:p>
                  </a:txBody>
                  <a:tcPr marL="12700" marR="12700" marT="12700" marB="0" anchor="b">
                    <a:lnL>
                      <a:noFill/>
                    </a:lnL>
                    <a:lnR>
                      <a:noFill/>
                    </a:lnR>
                    <a:lnT>
                      <a:noFill/>
                    </a:lnT>
                    <a:lnB>
                      <a:noFill/>
                    </a:lnB>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929144994"/>
              </p:ext>
            </p:extLst>
          </p:nvPr>
        </p:nvGraphicFramePr>
        <p:xfrm>
          <a:off x="539554" y="3356992"/>
          <a:ext cx="7848870" cy="317500"/>
        </p:xfrm>
        <a:graphic>
          <a:graphicData uri="http://schemas.openxmlformats.org/drawingml/2006/table">
            <a:tbl>
              <a:tblPr/>
              <a:tblGrid>
                <a:gridCol w="1308145"/>
                <a:gridCol w="1308145"/>
                <a:gridCol w="1308145"/>
                <a:gridCol w="1308145"/>
                <a:gridCol w="1308145"/>
                <a:gridCol w="1308145"/>
              </a:tblGrid>
              <a:tr h="190500">
                <a:tc>
                  <a:txBody>
                    <a:bodyPr/>
                    <a:lstStyle/>
                    <a:p>
                      <a:pPr algn="ctr" fontAlgn="b"/>
                      <a:r>
                        <a:rPr lang="en-US" sz="2000" b="1" i="0" u="none" strike="noStrike" dirty="0">
                          <a:solidFill>
                            <a:srgbClr val="000000"/>
                          </a:solidFill>
                          <a:effectLst/>
                          <a:latin typeface="Calibri"/>
                        </a:rPr>
                        <a:t>Year</a:t>
                      </a:r>
                    </a:p>
                  </a:txBody>
                  <a:tcPr marL="12700" marR="12700" marT="12700" marB="0" anchor="b">
                    <a:lnL>
                      <a:noFill/>
                    </a:lnL>
                    <a:lnR>
                      <a:noFill/>
                    </a:lnR>
                    <a:lnT>
                      <a:noFill/>
                    </a:lnT>
                    <a:lnB>
                      <a:noFill/>
                    </a:lnB>
                  </a:tcPr>
                </a:tc>
                <a:tc>
                  <a:txBody>
                    <a:bodyPr/>
                    <a:lstStyle/>
                    <a:p>
                      <a:pPr algn="ctr" fontAlgn="b"/>
                      <a:r>
                        <a:rPr lang="en-US" sz="2000" b="1" i="0" u="none" strike="noStrike" dirty="0">
                          <a:solidFill>
                            <a:srgbClr val="000000"/>
                          </a:solidFill>
                          <a:effectLst/>
                          <a:latin typeface="Calibri"/>
                        </a:rPr>
                        <a:t>Team</a:t>
                      </a:r>
                    </a:p>
                  </a:txBody>
                  <a:tcPr marL="12700" marR="12700" marT="12700" marB="0" anchor="b">
                    <a:lnL>
                      <a:noFill/>
                    </a:lnL>
                    <a:lnR>
                      <a:noFill/>
                    </a:lnR>
                    <a:lnT>
                      <a:noFill/>
                    </a:lnT>
                    <a:lnB>
                      <a:noFill/>
                    </a:lnB>
                  </a:tcPr>
                </a:tc>
                <a:tc>
                  <a:txBody>
                    <a:bodyPr/>
                    <a:lstStyle/>
                    <a:p>
                      <a:pPr algn="ctr" fontAlgn="b"/>
                      <a:r>
                        <a:rPr lang="en-US" sz="2000" b="1" i="0" u="none" strike="noStrike" dirty="0">
                          <a:solidFill>
                            <a:srgbClr val="000000"/>
                          </a:solidFill>
                          <a:effectLst/>
                          <a:latin typeface="Calibri"/>
                        </a:rPr>
                        <a:t>Corners </a:t>
                      </a:r>
                      <a:r>
                        <a:rPr lang="en-US" sz="2000" b="1" i="0" u="none" strike="noStrike" dirty="0" err="1">
                          <a:solidFill>
                            <a:srgbClr val="000000"/>
                          </a:solidFill>
                          <a:effectLst/>
                          <a:latin typeface="Calibri"/>
                        </a:rPr>
                        <a:t>Avg</a:t>
                      </a:r>
                      <a:endParaRPr lang="en-US" sz="2000" b="1"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r>
                        <a:rPr lang="en-US" sz="2000" b="1" i="0" u="none" strike="noStrike" dirty="0">
                          <a:solidFill>
                            <a:srgbClr val="000000"/>
                          </a:solidFill>
                          <a:effectLst/>
                          <a:latin typeface="Calibri"/>
                        </a:rPr>
                        <a:t>GA </a:t>
                      </a:r>
                      <a:r>
                        <a:rPr lang="en-US" sz="2000" b="1" i="0" u="none" strike="noStrike" dirty="0" err="1">
                          <a:solidFill>
                            <a:srgbClr val="000000"/>
                          </a:solidFill>
                          <a:effectLst/>
                          <a:latin typeface="Calibri"/>
                        </a:rPr>
                        <a:t>Avg</a:t>
                      </a:r>
                      <a:endParaRPr lang="en-US" sz="2000" b="1"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ctr" fontAlgn="b"/>
                      <a:r>
                        <a:rPr lang="en-US" sz="2000" b="1" i="0" u="none" strike="noStrike" dirty="0">
                          <a:solidFill>
                            <a:srgbClr val="000000"/>
                          </a:solidFill>
                          <a:effectLst/>
                          <a:latin typeface="Calibri"/>
                        </a:rPr>
                        <a:t>Title</a:t>
                      </a:r>
                    </a:p>
                  </a:txBody>
                  <a:tcPr marL="12700" marR="12700" marT="12700" marB="0" anchor="b">
                    <a:lnL>
                      <a:noFill/>
                    </a:lnL>
                    <a:lnR>
                      <a:noFill/>
                    </a:lnR>
                    <a:lnT>
                      <a:noFill/>
                    </a:lnT>
                    <a:lnB>
                      <a:noFill/>
                    </a:lnB>
                  </a:tcPr>
                </a:tc>
                <a:tc>
                  <a:txBody>
                    <a:bodyPr/>
                    <a:lstStyle/>
                    <a:p>
                      <a:pPr algn="ctr" fontAlgn="b"/>
                      <a:r>
                        <a:rPr lang="en-US" sz="2000" b="1" i="0" u="none" strike="noStrike" dirty="0">
                          <a:solidFill>
                            <a:srgbClr val="000000"/>
                          </a:solidFill>
                          <a:effectLst/>
                          <a:latin typeface="Calibri"/>
                        </a:rPr>
                        <a:t>Place</a:t>
                      </a:r>
                    </a:p>
                  </a:txBody>
                  <a:tcPr marL="12700" marR="12700" marT="12700" marB="0" anchor="b">
                    <a:lnL>
                      <a:noFill/>
                    </a:lnL>
                    <a:lnR>
                      <a:noFill/>
                    </a:lnR>
                    <a:lnT>
                      <a:noFill/>
                    </a:lnT>
                    <a:lnB>
                      <a:noFill/>
                    </a:lnB>
                  </a:tcPr>
                </a:tc>
              </a:tr>
            </a:tbl>
          </a:graphicData>
        </a:graphic>
      </p:graphicFrame>
    </p:spTree>
    <p:extLst>
      <p:ext uri="{BB962C8B-B14F-4D97-AF65-F5344CB8AC3E}">
        <p14:creationId xmlns:p14="http://schemas.microsoft.com/office/powerpoint/2010/main" val="831616387"/>
      </p:ext>
    </p:extLst>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30188"/>
            <a:ext cx="8382000" cy="1163395"/>
          </a:xfrm>
        </p:spPr>
        <p:txBody>
          <a:bodyPr>
            <a:normAutofit fontScale="90000"/>
          </a:bodyPr>
          <a:lstStyle/>
          <a:p>
            <a:pPr lvl="0"/>
            <a:r>
              <a:rPr lang="en-US" dirty="0"/>
              <a:t>Data Mining</a:t>
            </a:r>
            <a:br>
              <a:rPr lang="en-US" dirty="0"/>
            </a:br>
            <a:r>
              <a:rPr lang="en-US" dirty="0"/>
              <a:t/>
            </a:r>
            <a:br>
              <a:rPr lang="en-US" dirty="0"/>
            </a:br>
            <a:r>
              <a:rPr lang="en-US" dirty="0"/>
              <a:t/>
            </a:r>
            <a:br>
              <a:rPr lang="en-US" dirty="0"/>
            </a:br>
            <a:endParaRPr lang="en-US" dirty="0">
              <a:solidFill>
                <a:schemeClr val="accent2"/>
              </a:solidFill>
            </a:endParaRPr>
          </a:p>
        </p:txBody>
      </p:sp>
      <p:sp>
        <p:nvSpPr>
          <p:cNvPr id="3" name="Text Placeholder 2"/>
          <p:cNvSpPr>
            <a:spLocks noGrp="1"/>
          </p:cNvSpPr>
          <p:nvPr>
            <p:ph type="body" sz="quarter" idx="10"/>
          </p:nvPr>
        </p:nvSpPr>
        <p:spPr>
          <a:xfrm>
            <a:off x="395536" y="836712"/>
            <a:ext cx="8382000" cy="1584176"/>
          </a:xfrm>
        </p:spPr>
        <p:txBody>
          <a:bodyPr>
            <a:normAutofit/>
          </a:bodyPr>
          <a:lstStyle/>
          <a:p>
            <a:pPr lvl="0"/>
            <a:r>
              <a:rPr lang="en-US" dirty="0" smtClean="0"/>
              <a:t>First round of Data Mining with Full Data Set from 2 – 14 placements</a:t>
            </a:r>
          </a:p>
          <a:p>
            <a:pPr lvl="0"/>
            <a:r>
              <a:rPr lang="en-US" dirty="0" smtClean="0"/>
              <a:t>Calculated the diminishing accuracy rates </a:t>
            </a:r>
            <a:endParaRPr lang="en-US" dirty="0"/>
          </a:p>
          <a:p>
            <a:pPr marL="0" lv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907131807"/>
              </p:ext>
            </p:extLst>
          </p:nvPr>
        </p:nvGraphicFramePr>
        <p:xfrm>
          <a:off x="395536" y="2420888"/>
          <a:ext cx="8352928" cy="4104352"/>
        </p:xfrm>
        <a:graphic>
          <a:graphicData uri="http://schemas.openxmlformats.org/drawingml/2006/table">
            <a:tbl>
              <a:tblPr/>
              <a:tblGrid>
                <a:gridCol w="2088232"/>
                <a:gridCol w="2088232"/>
                <a:gridCol w="2088232"/>
                <a:gridCol w="2088232"/>
              </a:tblGrid>
              <a:tr h="293168">
                <a:tc>
                  <a:txBody>
                    <a:bodyPr/>
                    <a:lstStyle/>
                    <a:p>
                      <a:pPr algn="ctr" fontAlgn="b"/>
                      <a:r>
                        <a:rPr lang="en-US" sz="1600" b="1" i="0" u="none" strike="noStrike" dirty="0">
                          <a:solidFill>
                            <a:srgbClr val="000000"/>
                          </a:solidFill>
                          <a:effectLst/>
                          <a:latin typeface="Calibri"/>
                        </a:rPr>
                        <a:t>Naive Bayes</a:t>
                      </a:r>
                    </a:p>
                  </a:txBody>
                  <a:tcPr marL="9903" marR="9903" marT="9903" marB="0" anchor="b">
                    <a:lnL>
                      <a:noFill/>
                    </a:lnL>
                    <a:lnR>
                      <a:noFill/>
                    </a:lnR>
                    <a:lnT>
                      <a:noFill/>
                    </a:lnT>
                    <a:lnB>
                      <a:noFill/>
                    </a:lnB>
                  </a:tcPr>
                </a:tc>
                <a:tc>
                  <a:txBody>
                    <a:bodyPr/>
                    <a:lstStyle/>
                    <a:p>
                      <a:pPr algn="ctr" fontAlgn="b"/>
                      <a:r>
                        <a:rPr lang="en-US" sz="1600" b="1" i="0" u="none" strike="noStrike">
                          <a:solidFill>
                            <a:srgbClr val="000000"/>
                          </a:solidFill>
                          <a:effectLst/>
                          <a:latin typeface="Calibri"/>
                        </a:rPr>
                        <a:t>J48</a:t>
                      </a:r>
                    </a:p>
                  </a:txBody>
                  <a:tcPr marL="9903" marR="9903" marT="9903" marB="0" anchor="b">
                    <a:lnL>
                      <a:noFill/>
                    </a:lnL>
                    <a:lnR>
                      <a:noFill/>
                    </a:lnR>
                    <a:lnT>
                      <a:noFill/>
                    </a:lnT>
                    <a:lnB>
                      <a:noFill/>
                    </a:lnB>
                  </a:tcPr>
                </a:tc>
                <a:tc>
                  <a:txBody>
                    <a:bodyPr/>
                    <a:lstStyle/>
                    <a:p>
                      <a:pPr algn="ctr" fontAlgn="b"/>
                      <a:r>
                        <a:rPr lang="en-US" sz="1600" b="1" i="0" u="none" strike="noStrike">
                          <a:solidFill>
                            <a:srgbClr val="000000"/>
                          </a:solidFill>
                          <a:effectLst/>
                          <a:latin typeface="Calibri"/>
                        </a:rPr>
                        <a:t>Random Tr.</a:t>
                      </a:r>
                    </a:p>
                  </a:txBody>
                  <a:tcPr marL="9903" marR="9903" marT="9903" marB="0" anchor="b">
                    <a:lnL>
                      <a:noFill/>
                    </a:lnL>
                    <a:lnR>
                      <a:noFill/>
                    </a:lnR>
                    <a:lnT>
                      <a:noFill/>
                    </a:lnT>
                    <a:lnB>
                      <a:noFill/>
                    </a:lnB>
                  </a:tcPr>
                </a:tc>
                <a:tc>
                  <a:txBody>
                    <a:bodyPr/>
                    <a:lstStyle/>
                    <a:p>
                      <a:pPr algn="ctr" fontAlgn="b"/>
                      <a:r>
                        <a:rPr lang="en-US" sz="1600" b="1" i="0" u="none" strike="noStrike">
                          <a:solidFill>
                            <a:srgbClr val="000000"/>
                          </a:solidFill>
                          <a:effectLst/>
                          <a:latin typeface="Calibri"/>
                        </a:rPr>
                        <a:t>ML Percept.</a:t>
                      </a:r>
                    </a:p>
                  </a:txBody>
                  <a:tcPr marL="9903" marR="9903" marT="9903" marB="0" anchor="b">
                    <a:lnL>
                      <a:noFill/>
                    </a:lnL>
                    <a:lnR>
                      <a:noFill/>
                    </a:lnR>
                    <a:lnT>
                      <a:noFill/>
                    </a:lnT>
                    <a:lnB>
                      <a:noFill/>
                    </a:lnB>
                  </a:tcPr>
                </a:tc>
              </a:tr>
              <a:tr h="293168">
                <a:tc>
                  <a:txBody>
                    <a:bodyPr/>
                    <a:lstStyle/>
                    <a:p>
                      <a:pPr algn="ctr" fontAlgn="b"/>
                      <a:r>
                        <a:rPr lang="en-US" sz="1600" b="1" i="0" u="none" strike="noStrike" dirty="0">
                          <a:solidFill>
                            <a:srgbClr val="000000"/>
                          </a:solidFill>
                          <a:effectLst/>
                          <a:latin typeface="Calibri"/>
                        </a:rPr>
                        <a:t>94.46%</a:t>
                      </a:r>
                    </a:p>
                  </a:txBody>
                  <a:tcPr marL="9903" marR="9903" marT="9903" marB="0" anchor="b">
                    <a:lnL>
                      <a:noFill/>
                    </a:lnL>
                    <a:lnR>
                      <a:noFill/>
                    </a:lnR>
                    <a:lnT>
                      <a:noFill/>
                    </a:lnT>
                    <a:lnB>
                      <a:noFill/>
                    </a:lnB>
                  </a:tcPr>
                </a:tc>
                <a:tc>
                  <a:txBody>
                    <a:bodyPr/>
                    <a:lstStyle/>
                    <a:p>
                      <a:pPr algn="ctr" fontAlgn="b"/>
                      <a:r>
                        <a:rPr lang="en-US" sz="1600" b="1" i="0" u="none" strike="noStrike" dirty="0">
                          <a:solidFill>
                            <a:srgbClr val="000000"/>
                          </a:solidFill>
                          <a:effectLst/>
                          <a:latin typeface="Calibri"/>
                        </a:rPr>
                        <a:t>95.01%</a:t>
                      </a:r>
                    </a:p>
                  </a:txBody>
                  <a:tcPr marL="9903" marR="9903" marT="9903" marB="0" anchor="b">
                    <a:lnL>
                      <a:noFill/>
                    </a:lnL>
                    <a:lnR>
                      <a:noFill/>
                    </a:lnR>
                    <a:lnT>
                      <a:noFill/>
                    </a:lnT>
                    <a:lnB>
                      <a:noFill/>
                    </a:lnB>
                  </a:tcPr>
                </a:tc>
                <a:tc>
                  <a:txBody>
                    <a:bodyPr/>
                    <a:lstStyle/>
                    <a:p>
                      <a:pPr algn="ctr" fontAlgn="b"/>
                      <a:r>
                        <a:rPr lang="en-US" sz="1600" b="1" i="0" u="none" strike="noStrike">
                          <a:solidFill>
                            <a:srgbClr val="000000"/>
                          </a:solidFill>
                          <a:effectLst/>
                          <a:latin typeface="Calibri"/>
                        </a:rPr>
                        <a:t>92.24%</a:t>
                      </a:r>
                    </a:p>
                  </a:txBody>
                  <a:tcPr marL="9903" marR="9903" marT="9903" marB="0" anchor="b">
                    <a:lnL>
                      <a:noFill/>
                    </a:lnL>
                    <a:lnR>
                      <a:noFill/>
                    </a:lnR>
                    <a:lnT>
                      <a:noFill/>
                    </a:lnT>
                    <a:lnB>
                      <a:noFill/>
                    </a:lnB>
                  </a:tcPr>
                </a:tc>
                <a:tc>
                  <a:txBody>
                    <a:bodyPr/>
                    <a:lstStyle/>
                    <a:p>
                      <a:pPr algn="ctr" fontAlgn="b"/>
                      <a:r>
                        <a:rPr lang="en-US" sz="1600" b="1" i="0" u="none" strike="noStrike">
                          <a:solidFill>
                            <a:srgbClr val="000000"/>
                          </a:solidFill>
                          <a:effectLst/>
                          <a:latin typeface="Calibri"/>
                        </a:rPr>
                        <a:t>93.35%</a:t>
                      </a:r>
                    </a:p>
                  </a:txBody>
                  <a:tcPr marL="9903" marR="9903" marT="9903" marB="0" anchor="b">
                    <a:lnL>
                      <a:noFill/>
                    </a:lnL>
                    <a:lnR>
                      <a:noFill/>
                    </a:lnR>
                    <a:lnT>
                      <a:noFill/>
                    </a:lnT>
                    <a:lnB>
                      <a:noFill/>
                    </a:lnB>
                  </a:tcPr>
                </a:tc>
              </a:tr>
              <a:tr h="293168">
                <a:tc>
                  <a:txBody>
                    <a:bodyPr/>
                    <a:lstStyle/>
                    <a:p>
                      <a:pPr algn="ctr" fontAlgn="b"/>
                      <a:r>
                        <a:rPr lang="en-US" sz="1600" b="0" i="0" u="none" strike="noStrike">
                          <a:solidFill>
                            <a:srgbClr val="000000"/>
                          </a:solidFill>
                          <a:effectLst/>
                          <a:latin typeface="Calibri"/>
                        </a:rPr>
                        <a:t>89.75%</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90.03%</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84.21%</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86.43%</a:t>
                      </a:r>
                    </a:p>
                  </a:txBody>
                  <a:tcPr marL="9903" marR="9903" marT="9903" marB="0" anchor="b">
                    <a:lnL>
                      <a:noFill/>
                    </a:lnL>
                    <a:lnR>
                      <a:noFill/>
                    </a:lnR>
                    <a:lnT>
                      <a:noFill/>
                    </a:lnT>
                    <a:lnB>
                      <a:noFill/>
                    </a:lnB>
                  </a:tcPr>
                </a:tc>
              </a:tr>
              <a:tr h="293168">
                <a:tc>
                  <a:txBody>
                    <a:bodyPr/>
                    <a:lstStyle/>
                    <a:p>
                      <a:pPr algn="ctr" fontAlgn="b"/>
                      <a:r>
                        <a:rPr lang="en-US" sz="1600" b="0" i="0" u="none" strike="noStrike">
                          <a:solidFill>
                            <a:srgbClr val="000000"/>
                          </a:solidFill>
                          <a:effectLst/>
                          <a:latin typeface="Calibri"/>
                        </a:rPr>
                        <a:t>83.66%</a:t>
                      </a:r>
                    </a:p>
                  </a:txBody>
                  <a:tcPr marL="9903" marR="9903" marT="9903" marB="0" anchor="b">
                    <a:lnL>
                      <a:noFill/>
                    </a:lnL>
                    <a:lnR>
                      <a:noFill/>
                    </a:lnR>
                    <a:lnT>
                      <a:noFill/>
                    </a:lnT>
                    <a:lnB>
                      <a:noFill/>
                    </a:lnB>
                  </a:tcPr>
                </a:tc>
                <a:tc>
                  <a:txBody>
                    <a:bodyPr/>
                    <a:lstStyle/>
                    <a:p>
                      <a:pPr algn="ctr" fontAlgn="b"/>
                      <a:r>
                        <a:rPr lang="en-US" sz="1600" b="0" i="0" u="none" strike="noStrike" dirty="0">
                          <a:solidFill>
                            <a:srgbClr val="000000"/>
                          </a:solidFill>
                          <a:effectLst/>
                          <a:latin typeface="Calibri"/>
                        </a:rPr>
                        <a:t>85.04%</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77.29%</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80.33%</a:t>
                      </a:r>
                    </a:p>
                  </a:txBody>
                  <a:tcPr marL="9903" marR="9903" marT="9903" marB="0" anchor="b">
                    <a:lnL>
                      <a:noFill/>
                    </a:lnL>
                    <a:lnR>
                      <a:noFill/>
                    </a:lnR>
                    <a:lnT>
                      <a:noFill/>
                    </a:lnT>
                    <a:lnB>
                      <a:noFill/>
                    </a:lnB>
                  </a:tcPr>
                </a:tc>
              </a:tr>
              <a:tr h="293168">
                <a:tc>
                  <a:txBody>
                    <a:bodyPr/>
                    <a:lstStyle/>
                    <a:p>
                      <a:pPr algn="ctr" fontAlgn="b"/>
                      <a:r>
                        <a:rPr lang="en-US" sz="1600" b="1" i="0" u="none" strike="noStrike">
                          <a:solidFill>
                            <a:srgbClr val="000000"/>
                          </a:solidFill>
                          <a:effectLst/>
                          <a:latin typeface="Calibri"/>
                        </a:rPr>
                        <a:t>79.22%</a:t>
                      </a:r>
                    </a:p>
                  </a:txBody>
                  <a:tcPr marL="9903" marR="9903" marT="9903" marB="0" anchor="b">
                    <a:lnL>
                      <a:noFill/>
                    </a:lnL>
                    <a:lnR>
                      <a:noFill/>
                    </a:lnR>
                    <a:lnT>
                      <a:noFill/>
                    </a:lnT>
                    <a:lnB>
                      <a:noFill/>
                    </a:lnB>
                  </a:tcPr>
                </a:tc>
                <a:tc>
                  <a:txBody>
                    <a:bodyPr/>
                    <a:lstStyle/>
                    <a:p>
                      <a:pPr algn="ctr" fontAlgn="b"/>
                      <a:r>
                        <a:rPr lang="en-US" sz="1600" b="1" i="0" u="none" strike="noStrike">
                          <a:solidFill>
                            <a:srgbClr val="000000"/>
                          </a:solidFill>
                          <a:effectLst/>
                          <a:latin typeface="Calibri"/>
                        </a:rPr>
                        <a:t>80.06%</a:t>
                      </a:r>
                    </a:p>
                  </a:txBody>
                  <a:tcPr marL="9903" marR="9903" marT="9903" marB="0" anchor="b">
                    <a:lnL>
                      <a:noFill/>
                    </a:lnL>
                    <a:lnR>
                      <a:noFill/>
                    </a:lnR>
                    <a:lnT>
                      <a:noFill/>
                    </a:lnT>
                    <a:lnB>
                      <a:noFill/>
                    </a:lnB>
                  </a:tcPr>
                </a:tc>
                <a:tc>
                  <a:txBody>
                    <a:bodyPr/>
                    <a:lstStyle/>
                    <a:p>
                      <a:pPr algn="ctr" fontAlgn="b"/>
                      <a:r>
                        <a:rPr lang="en-US" sz="1600" b="1" i="0" u="none" strike="noStrike" dirty="0">
                          <a:solidFill>
                            <a:srgbClr val="000000"/>
                          </a:solidFill>
                          <a:effectLst/>
                          <a:latin typeface="Calibri"/>
                        </a:rPr>
                        <a:t>70.36%</a:t>
                      </a:r>
                    </a:p>
                  </a:txBody>
                  <a:tcPr marL="9903" marR="9903" marT="9903" marB="0" anchor="b">
                    <a:lnL>
                      <a:noFill/>
                    </a:lnL>
                    <a:lnR>
                      <a:noFill/>
                    </a:lnR>
                    <a:lnT>
                      <a:noFill/>
                    </a:lnT>
                    <a:lnB>
                      <a:noFill/>
                    </a:lnB>
                  </a:tcPr>
                </a:tc>
                <a:tc>
                  <a:txBody>
                    <a:bodyPr/>
                    <a:lstStyle/>
                    <a:p>
                      <a:pPr algn="ctr" fontAlgn="b"/>
                      <a:r>
                        <a:rPr lang="en-US" sz="1600" b="1" i="0" u="none" strike="noStrike">
                          <a:solidFill>
                            <a:srgbClr val="000000"/>
                          </a:solidFill>
                          <a:effectLst/>
                          <a:latin typeface="Calibri"/>
                        </a:rPr>
                        <a:t>74.79%</a:t>
                      </a:r>
                    </a:p>
                  </a:txBody>
                  <a:tcPr marL="9903" marR="9903" marT="9903" marB="0" anchor="b">
                    <a:lnL>
                      <a:noFill/>
                    </a:lnL>
                    <a:lnR>
                      <a:noFill/>
                    </a:lnR>
                    <a:lnT>
                      <a:noFill/>
                    </a:lnT>
                    <a:lnB>
                      <a:noFill/>
                    </a:lnB>
                  </a:tcPr>
                </a:tc>
              </a:tr>
              <a:tr h="293168">
                <a:tc>
                  <a:txBody>
                    <a:bodyPr/>
                    <a:lstStyle/>
                    <a:p>
                      <a:pPr algn="ctr" fontAlgn="b"/>
                      <a:r>
                        <a:rPr lang="en-US" sz="1600" b="0" i="0" u="none" strike="noStrike">
                          <a:solidFill>
                            <a:srgbClr val="000000"/>
                          </a:solidFill>
                          <a:effectLst/>
                          <a:latin typeface="Calibri"/>
                        </a:rPr>
                        <a:t>74.24%</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75.07%</a:t>
                      </a:r>
                    </a:p>
                  </a:txBody>
                  <a:tcPr marL="9903" marR="9903" marT="9903" marB="0" anchor="b">
                    <a:lnL>
                      <a:noFill/>
                    </a:lnL>
                    <a:lnR>
                      <a:noFill/>
                    </a:lnR>
                    <a:lnT>
                      <a:noFill/>
                    </a:lnT>
                    <a:lnB>
                      <a:noFill/>
                    </a:lnB>
                  </a:tcPr>
                </a:tc>
                <a:tc>
                  <a:txBody>
                    <a:bodyPr/>
                    <a:lstStyle/>
                    <a:p>
                      <a:pPr algn="ctr" fontAlgn="b"/>
                      <a:r>
                        <a:rPr lang="en-US" sz="1600" b="0" i="0" u="none" strike="noStrike" dirty="0">
                          <a:solidFill>
                            <a:srgbClr val="000000"/>
                          </a:solidFill>
                          <a:effectLst/>
                          <a:latin typeface="Calibri"/>
                        </a:rPr>
                        <a:t>65.65%</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68.98%</a:t>
                      </a:r>
                    </a:p>
                  </a:txBody>
                  <a:tcPr marL="9903" marR="9903" marT="9903" marB="0" anchor="b">
                    <a:lnL>
                      <a:noFill/>
                    </a:lnL>
                    <a:lnR>
                      <a:noFill/>
                    </a:lnR>
                    <a:lnT>
                      <a:noFill/>
                    </a:lnT>
                    <a:lnB>
                      <a:noFill/>
                    </a:lnB>
                  </a:tcPr>
                </a:tc>
              </a:tr>
              <a:tr h="293168">
                <a:tc>
                  <a:txBody>
                    <a:bodyPr/>
                    <a:lstStyle/>
                    <a:p>
                      <a:pPr algn="ctr" fontAlgn="b"/>
                      <a:r>
                        <a:rPr lang="en-US" sz="1600" b="0" i="0" u="none" strike="noStrike">
                          <a:solidFill>
                            <a:srgbClr val="000000"/>
                          </a:solidFill>
                          <a:effectLst/>
                          <a:latin typeface="Calibri"/>
                        </a:rPr>
                        <a:t>71.47%</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70.08%</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58.73%</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59%</a:t>
                      </a:r>
                    </a:p>
                  </a:txBody>
                  <a:tcPr marL="9903" marR="9903" marT="9903" marB="0" anchor="b">
                    <a:lnL>
                      <a:noFill/>
                    </a:lnL>
                    <a:lnR>
                      <a:noFill/>
                    </a:lnR>
                    <a:lnT>
                      <a:noFill/>
                    </a:lnT>
                    <a:lnB>
                      <a:noFill/>
                    </a:lnB>
                  </a:tcPr>
                </a:tc>
              </a:tr>
              <a:tr h="293168">
                <a:tc>
                  <a:txBody>
                    <a:bodyPr/>
                    <a:lstStyle/>
                    <a:p>
                      <a:pPr algn="ctr" fontAlgn="b"/>
                      <a:r>
                        <a:rPr lang="en-US" sz="1600" b="0" i="0" u="none" strike="noStrike">
                          <a:solidFill>
                            <a:srgbClr val="000000"/>
                          </a:solidFill>
                          <a:effectLst/>
                          <a:latin typeface="Calibri"/>
                        </a:rPr>
                        <a:t>66.48%</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65.10%</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54.02%</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57.89%</a:t>
                      </a:r>
                    </a:p>
                  </a:txBody>
                  <a:tcPr marL="9903" marR="9903" marT="9903" marB="0" anchor="b">
                    <a:lnL>
                      <a:noFill/>
                    </a:lnL>
                    <a:lnR>
                      <a:noFill/>
                    </a:lnR>
                    <a:lnT>
                      <a:noFill/>
                    </a:lnT>
                    <a:lnB>
                      <a:noFill/>
                    </a:lnB>
                  </a:tcPr>
                </a:tc>
              </a:tr>
              <a:tr h="293168">
                <a:tc>
                  <a:txBody>
                    <a:bodyPr/>
                    <a:lstStyle/>
                    <a:p>
                      <a:pPr algn="ctr" fontAlgn="b"/>
                      <a:r>
                        <a:rPr lang="en-US" sz="1600" b="0" i="0" u="none" strike="noStrike">
                          <a:solidFill>
                            <a:srgbClr val="000000"/>
                          </a:solidFill>
                          <a:effectLst/>
                          <a:latin typeface="Calibri"/>
                        </a:rPr>
                        <a:t>61.77%</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60.11%</a:t>
                      </a:r>
                    </a:p>
                  </a:txBody>
                  <a:tcPr marL="9903" marR="9903" marT="9903" marB="0" anchor="b">
                    <a:lnL>
                      <a:noFill/>
                    </a:lnL>
                    <a:lnR>
                      <a:noFill/>
                    </a:lnR>
                    <a:lnT>
                      <a:noFill/>
                    </a:lnT>
                    <a:lnB>
                      <a:noFill/>
                    </a:lnB>
                  </a:tcPr>
                </a:tc>
                <a:tc>
                  <a:txBody>
                    <a:bodyPr/>
                    <a:lstStyle/>
                    <a:p>
                      <a:pPr algn="ctr" fontAlgn="b"/>
                      <a:r>
                        <a:rPr lang="en-US" sz="1600" b="0" i="0" u="none" strike="noStrike" dirty="0">
                          <a:solidFill>
                            <a:srgbClr val="000000"/>
                          </a:solidFill>
                          <a:effectLst/>
                          <a:latin typeface="Calibri"/>
                        </a:rPr>
                        <a:t>47.65%</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52.08%</a:t>
                      </a:r>
                    </a:p>
                  </a:txBody>
                  <a:tcPr marL="9903" marR="9903" marT="9903" marB="0" anchor="b">
                    <a:lnL>
                      <a:noFill/>
                    </a:lnL>
                    <a:lnR>
                      <a:noFill/>
                    </a:lnR>
                    <a:lnT>
                      <a:noFill/>
                    </a:lnT>
                    <a:lnB>
                      <a:noFill/>
                    </a:lnB>
                  </a:tcPr>
                </a:tc>
              </a:tr>
              <a:tr h="293168">
                <a:tc>
                  <a:txBody>
                    <a:bodyPr/>
                    <a:lstStyle/>
                    <a:p>
                      <a:pPr algn="ctr" fontAlgn="b"/>
                      <a:r>
                        <a:rPr lang="en-US" sz="1600" b="0" i="0" u="none" strike="noStrike">
                          <a:solidFill>
                            <a:srgbClr val="000000"/>
                          </a:solidFill>
                          <a:effectLst/>
                          <a:latin typeface="Calibri"/>
                        </a:rPr>
                        <a:t>56.79%</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54.57%</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43.77%</a:t>
                      </a:r>
                    </a:p>
                  </a:txBody>
                  <a:tcPr marL="9903" marR="9903" marT="9903" marB="0" anchor="b">
                    <a:lnL>
                      <a:noFill/>
                    </a:lnL>
                    <a:lnR>
                      <a:noFill/>
                    </a:lnR>
                    <a:lnT>
                      <a:noFill/>
                    </a:lnT>
                    <a:lnB>
                      <a:noFill/>
                    </a:lnB>
                  </a:tcPr>
                </a:tc>
                <a:tc>
                  <a:txBody>
                    <a:bodyPr/>
                    <a:lstStyle/>
                    <a:p>
                      <a:pPr algn="ctr" fontAlgn="b"/>
                      <a:r>
                        <a:rPr lang="en-US" sz="1600" b="0" i="0" u="none" strike="noStrike" dirty="0">
                          <a:solidFill>
                            <a:srgbClr val="000000"/>
                          </a:solidFill>
                          <a:effectLst/>
                          <a:latin typeface="Calibri"/>
                        </a:rPr>
                        <a:t>48.75%</a:t>
                      </a:r>
                    </a:p>
                  </a:txBody>
                  <a:tcPr marL="9903" marR="9903" marT="9903" marB="0" anchor="b">
                    <a:lnL>
                      <a:noFill/>
                    </a:lnL>
                    <a:lnR>
                      <a:noFill/>
                    </a:lnR>
                    <a:lnT>
                      <a:noFill/>
                    </a:lnT>
                    <a:lnB>
                      <a:noFill/>
                    </a:lnB>
                  </a:tcPr>
                </a:tc>
              </a:tr>
              <a:tr h="293168">
                <a:tc>
                  <a:txBody>
                    <a:bodyPr/>
                    <a:lstStyle/>
                    <a:p>
                      <a:pPr algn="ctr" fontAlgn="b"/>
                      <a:r>
                        <a:rPr lang="en-US" sz="1600" b="0" i="0" u="none" strike="noStrike">
                          <a:solidFill>
                            <a:srgbClr val="000000"/>
                          </a:solidFill>
                          <a:effectLst/>
                          <a:latin typeface="Calibri"/>
                        </a:rPr>
                        <a:t>51.52%</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49.58%</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39.61%</a:t>
                      </a:r>
                    </a:p>
                  </a:txBody>
                  <a:tcPr marL="9903" marR="9903" marT="9903" marB="0" anchor="b">
                    <a:lnL>
                      <a:noFill/>
                    </a:lnL>
                    <a:lnR>
                      <a:noFill/>
                    </a:lnR>
                    <a:lnT>
                      <a:noFill/>
                    </a:lnT>
                    <a:lnB>
                      <a:noFill/>
                    </a:lnB>
                  </a:tcPr>
                </a:tc>
                <a:tc>
                  <a:txBody>
                    <a:bodyPr/>
                    <a:lstStyle/>
                    <a:p>
                      <a:pPr algn="ctr" fontAlgn="b"/>
                      <a:r>
                        <a:rPr lang="en-US" sz="1600" b="0" i="0" u="none" strike="noStrike" dirty="0">
                          <a:solidFill>
                            <a:srgbClr val="000000"/>
                          </a:solidFill>
                          <a:effectLst/>
                          <a:latin typeface="Calibri"/>
                        </a:rPr>
                        <a:t>44.88%</a:t>
                      </a:r>
                    </a:p>
                  </a:txBody>
                  <a:tcPr marL="9903" marR="9903" marT="9903" marB="0" anchor="b">
                    <a:lnL>
                      <a:noFill/>
                    </a:lnL>
                    <a:lnR>
                      <a:noFill/>
                    </a:lnR>
                    <a:lnT>
                      <a:noFill/>
                    </a:lnT>
                    <a:lnB>
                      <a:noFill/>
                    </a:lnB>
                  </a:tcPr>
                </a:tc>
              </a:tr>
              <a:tr h="293168">
                <a:tc>
                  <a:txBody>
                    <a:bodyPr/>
                    <a:lstStyle/>
                    <a:p>
                      <a:pPr algn="ctr" fontAlgn="b"/>
                      <a:r>
                        <a:rPr lang="en-US" sz="1600" b="0" i="0" u="none" strike="noStrike">
                          <a:solidFill>
                            <a:srgbClr val="000000"/>
                          </a:solidFill>
                          <a:effectLst/>
                          <a:latin typeface="Calibri"/>
                        </a:rPr>
                        <a:t>46.26%</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45.15%</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35.18%</a:t>
                      </a:r>
                    </a:p>
                  </a:txBody>
                  <a:tcPr marL="9903" marR="9903" marT="9903" marB="0" anchor="b">
                    <a:lnL>
                      <a:noFill/>
                    </a:lnL>
                    <a:lnR>
                      <a:noFill/>
                    </a:lnR>
                    <a:lnT>
                      <a:noFill/>
                    </a:lnT>
                    <a:lnB>
                      <a:noFill/>
                    </a:lnB>
                  </a:tcPr>
                </a:tc>
                <a:tc>
                  <a:txBody>
                    <a:bodyPr/>
                    <a:lstStyle/>
                    <a:p>
                      <a:pPr algn="ctr" fontAlgn="b"/>
                      <a:r>
                        <a:rPr lang="en-US" sz="1600" b="0" i="0" u="none" strike="noStrike" dirty="0">
                          <a:solidFill>
                            <a:srgbClr val="000000"/>
                          </a:solidFill>
                          <a:effectLst/>
                          <a:latin typeface="Calibri"/>
                        </a:rPr>
                        <a:t>37.95%</a:t>
                      </a:r>
                    </a:p>
                  </a:txBody>
                  <a:tcPr marL="9903" marR="9903" marT="9903" marB="0" anchor="b">
                    <a:lnL>
                      <a:noFill/>
                    </a:lnL>
                    <a:lnR>
                      <a:noFill/>
                    </a:lnR>
                    <a:lnT>
                      <a:noFill/>
                    </a:lnT>
                    <a:lnB>
                      <a:noFill/>
                    </a:lnB>
                  </a:tcPr>
                </a:tc>
              </a:tr>
              <a:tr h="293168">
                <a:tc>
                  <a:txBody>
                    <a:bodyPr/>
                    <a:lstStyle/>
                    <a:p>
                      <a:pPr algn="ctr" fontAlgn="b"/>
                      <a:r>
                        <a:rPr lang="en-US" sz="1600" b="0" i="0" u="none" strike="noStrike">
                          <a:solidFill>
                            <a:srgbClr val="000000"/>
                          </a:solidFill>
                          <a:effectLst/>
                          <a:latin typeface="Calibri"/>
                        </a:rPr>
                        <a:t>40.44%</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39.34%</a:t>
                      </a:r>
                    </a:p>
                  </a:txBody>
                  <a:tcPr marL="9903" marR="9903" marT="9903" marB="0" anchor="b">
                    <a:lnL>
                      <a:noFill/>
                    </a:lnL>
                    <a:lnR>
                      <a:noFill/>
                    </a:lnR>
                    <a:lnT>
                      <a:noFill/>
                    </a:lnT>
                    <a:lnB>
                      <a:noFill/>
                    </a:lnB>
                  </a:tcPr>
                </a:tc>
                <a:tc>
                  <a:txBody>
                    <a:bodyPr/>
                    <a:lstStyle/>
                    <a:p>
                      <a:pPr algn="ctr" fontAlgn="b"/>
                      <a:r>
                        <a:rPr lang="en-US" sz="1600" b="0" i="0" u="none" strike="noStrike">
                          <a:solidFill>
                            <a:srgbClr val="000000"/>
                          </a:solidFill>
                          <a:effectLst/>
                          <a:latin typeface="Calibri"/>
                        </a:rPr>
                        <a:t>29.64%</a:t>
                      </a:r>
                    </a:p>
                  </a:txBody>
                  <a:tcPr marL="9903" marR="9903" marT="9903" marB="0" anchor="b">
                    <a:lnL>
                      <a:noFill/>
                    </a:lnL>
                    <a:lnR>
                      <a:noFill/>
                    </a:lnR>
                    <a:lnT>
                      <a:noFill/>
                    </a:lnT>
                    <a:lnB>
                      <a:noFill/>
                    </a:lnB>
                  </a:tcPr>
                </a:tc>
                <a:tc>
                  <a:txBody>
                    <a:bodyPr/>
                    <a:lstStyle/>
                    <a:p>
                      <a:pPr algn="ctr" fontAlgn="b"/>
                      <a:r>
                        <a:rPr lang="en-US" sz="1600" b="0" i="0" u="none" strike="noStrike" dirty="0">
                          <a:solidFill>
                            <a:srgbClr val="000000"/>
                          </a:solidFill>
                          <a:effectLst/>
                          <a:latin typeface="Calibri"/>
                        </a:rPr>
                        <a:t>37.95%</a:t>
                      </a:r>
                    </a:p>
                  </a:txBody>
                  <a:tcPr marL="9903" marR="9903" marT="9903" marB="0" anchor="b">
                    <a:lnL>
                      <a:noFill/>
                    </a:lnL>
                    <a:lnR>
                      <a:noFill/>
                    </a:lnR>
                    <a:lnT>
                      <a:noFill/>
                    </a:lnT>
                    <a:lnB>
                      <a:noFill/>
                    </a:lnB>
                  </a:tcPr>
                </a:tc>
              </a:tr>
              <a:tr h="293168">
                <a:tc>
                  <a:txBody>
                    <a:bodyPr/>
                    <a:lstStyle/>
                    <a:p>
                      <a:pPr algn="ctr" fontAlgn="b"/>
                      <a:r>
                        <a:rPr lang="en-US" sz="1600" b="1" i="0" u="none" strike="noStrike">
                          <a:solidFill>
                            <a:srgbClr val="000000"/>
                          </a:solidFill>
                          <a:effectLst/>
                          <a:latin typeface="Calibri"/>
                        </a:rPr>
                        <a:t>36.29%</a:t>
                      </a:r>
                    </a:p>
                  </a:txBody>
                  <a:tcPr marL="9903" marR="9903" marT="9903" marB="0" anchor="b">
                    <a:lnL>
                      <a:noFill/>
                    </a:lnL>
                    <a:lnR>
                      <a:noFill/>
                    </a:lnR>
                    <a:lnT>
                      <a:noFill/>
                    </a:lnT>
                    <a:lnB>
                      <a:noFill/>
                    </a:lnB>
                  </a:tcPr>
                </a:tc>
                <a:tc>
                  <a:txBody>
                    <a:bodyPr/>
                    <a:lstStyle/>
                    <a:p>
                      <a:pPr algn="ctr" fontAlgn="b"/>
                      <a:r>
                        <a:rPr lang="en-US" sz="1600" b="1" i="0" u="none" strike="noStrike">
                          <a:solidFill>
                            <a:srgbClr val="000000"/>
                          </a:solidFill>
                          <a:effectLst/>
                          <a:latin typeface="Calibri"/>
                        </a:rPr>
                        <a:t>34.90%</a:t>
                      </a:r>
                    </a:p>
                  </a:txBody>
                  <a:tcPr marL="9903" marR="9903" marT="9903" marB="0" anchor="b">
                    <a:lnL>
                      <a:noFill/>
                    </a:lnL>
                    <a:lnR>
                      <a:noFill/>
                    </a:lnR>
                    <a:lnT>
                      <a:noFill/>
                    </a:lnT>
                    <a:lnB>
                      <a:noFill/>
                    </a:lnB>
                  </a:tcPr>
                </a:tc>
                <a:tc>
                  <a:txBody>
                    <a:bodyPr/>
                    <a:lstStyle/>
                    <a:p>
                      <a:pPr algn="ctr" fontAlgn="b"/>
                      <a:r>
                        <a:rPr lang="en-US" sz="1600" b="1" i="0" u="none" strike="noStrike">
                          <a:solidFill>
                            <a:srgbClr val="000000"/>
                          </a:solidFill>
                          <a:effectLst/>
                          <a:latin typeface="Calibri"/>
                        </a:rPr>
                        <a:t>24.38%</a:t>
                      </a:r>
                    </a:p>
                  </a:txBody>
                  <a:tcPr marL="9903" marR="9903" marT="9903" marB="0" anchor="b">
                    <a:lnL>
                      <a:noFill/>
                    </a:lnL>
                    <a:lnR>
                      <a:noFill/>
                    </a:lnR>
                    <a:lnT>
                      <a:noFill/>
                    </a:lnT>
                    <a:lnB>
                      <a:noFill/>
                    </a:lnB>
                  </a:tcPr>
                </a:tc>
                <a:tc>
                  <a:txBody>
                    <a:bodyPr/>
                    <a:lstStyle/>
                    <a:p>
                      <a:pPr algn="ctr" fontAlgn="b"/>
                      <a:r>
                        <a:rPr lang="en-US" sz="1600" b="1" i="0" u="none" strike="noStrike" dirty="0">
                          <a:solidFill>
                            <a:srgbClr val="000000"/>
                          </a:solidFill>
                          <a:effectLst/>
                          <a:latin typeface="Calibri"/>
                        </a:rPr>
                        <a:t>27.98%</a:t>
                      </a:r>
                    </a:p>
                  </a:txBody>
                  <a:tcPr marL="9903" marR="9903" marT="9903" marB="0" anchor="b">
                    <a:lnL>
                      <a:noFill/>
                    </a:lnL>
                    <a:lnR>
                      <a:noFill/>
                    </a:lnR>
                    <a:lnT>
                      <a:noFill/>
                    </a:lnT>
                    <a:lnB>
                      <a:noFill/>
                    </a:lnB>
                  </a:tcPr>
                </a:tc>
              </a:tr>
            </a:tbl>
          </a:graphicData>
        </a:graphic>
      </p:graphicFrame>
    </p:spTree>
    <p:extLst>
      <p:ext uri="{BB962C8B-B14F-4D97-AF65-F5344CB8AC3E}">
        <p14:creationId xmlns:p14="http://schemas.microsoft.com/office/powerpoint/2010/main" val="2268335315"/>
      </p:ext>
    </p:extLst>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p:cNvGraphicFramePr>
            <a:graphicFrameLocks/>
          </p:cNvGraphicFramePr>
          <p:nvPr>
            <p:extLst>
              <p:ext uri="{D42A27DB-BD31-4B8C-83A1-F6EECF244321}">
                <p14:modId xmlns:p14="http://schemas.microsoft.com/office/powerpoint/2010/main" val="2252459681"/>
              </p:ext>
            </p:extLst>
          </p:nvPr>
        </p:nvGraphicFramePr>
        <p:xfrm>
          <a:off x="1043608" y="188640"/>
          <a:ext cx="7200800" cy="273630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p:cNvGraphicFramePr>
            <a:graphicFrameLocks/>
          </p:cNvGraphicFramePr>
          <p:nvPr>
            <p:extLst>
              <p:ext uri="{D42A27DB-BD31-4B8C-83A1-F6EECF244321}">
                <p14:modId xmlns:p14="http://schemas.microsoft.com/office/powerpoint/2010/main" val="2999734389"/>
              </p:ext>
            </p:extLst>
          </p:nvPr>
        </p:nvGraphicFramePr>
        <p:xfrm>
          <a:off x="1043608" y="2996952"/>
          <a:ext cx="7162800" cy="34861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66807012"/>
      </p:ext>
    </p:extLst>
  </p:cSld>
  <p:clrMapOvr>
    <a:masterClrMapping/>
  </p:clrMapOvr>
  <p:transition xmlns:p14="http://schemas.microsoft.com/office/powerpoint/2010/mai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30188"/>
            <a:ext cx="8382000" cy="1163395"/>
          </a:xfrm>
        </p:spPr>
        <p:txBody>
          <a:bodyPr>
            <a:normAutofit fontScale="90000"/>
          </a:bodyPr>
          <a:lstStyle/>
          <a:p>
            <a:pPr lvl="0"/>
            <a:r>
              <a:rPr lang="en-US" dirty="0"/>
              <a:t>Data Mining</a:t>
            </a:r>
            <a:br>
              <a:rPr lang="en-US" dirty="0"/>
            </a:br>
            <a:r>
              <a:rPr lang="en-US" dirty="0"/>
              <a:t/>
            </a:r>
            <a:br>
              <a:rPr lang="en-US" dirty="0"/>
            </a:br>
            <a:r>
              <a:rPr lang="en-US" dirty="0"/>
              <a:t/>
            </a:r>
            <a:br>
              <a:rPr lang="en-US" dirty="0"/>
            </a:br>
            <a:endParaRPr lang="en-US" dirty="0">
              <a:solidFill>
                <a:schemeClr val="accent2"/>
              </a:solidFill>
            </a:endParaRPr>
          </a:p>
        </p:txBody>
      </p:sp>
      <p:sp>
        <p:nvSpPr>
          <p:cNvPr id="3" name="Text Placeholder 2"/>
          <p:cNvSpPr>
            <a:spLocks noGrp="1"/>
          </p:cNvSpPr>
          <p:nvPr>
            <p:ph type="body" sz="quarter" idx="10"/>
          </p:nvPr>
        </p:nvSpPr>
        <p:spPr>
          <a:xfrm>
            <a:off x="381000" y="1412776"/>
            <a:ext cx="8382000" cy="1656184"/>
          </a:xfrm>
        </p:spPr>
        <p:txBody>
          <a:bodyPr>
            <a:normAutofit fontScale="85000" lnSpcReduction="20000"/>
          </a:bodyPr>
          <a:lstStyle/>
          <a:p>
            <a:pPr lvl="0"/>
            <a:r>
              <a:rPr lang="en-US" dirty="0" smtClean="0"/>
              <a:t>Second round </a:t>
            </a:r>
            <a:r>
              <a:rPr lang="en-US" dirty="0"/>
              <a:t>of Data Mining with </a:t>
            </a:r>
            <a:r>
              <a:rPr lang="en-US" dirty="0" smtClean="0"/>
              <a:t>2 Data Sets:</a:t>
            </a:r>
          </a:p>
          <a:p>
            <a:pPr lvl="4"/>
            <a:r>
              <a:rPr lang="en-US" dirty="0" smtClean="0"/>
              <a:t>Full data set, class attributes clustered, 4 attributes</a:t>
            </a:r>
          </a:p>
          <a:p>
            <a:pPr lvl="4"/>
            <a:r>
              <a:rPr lang="en-US" dirty="0" smtClean="0"/>
              <a:t>Sub set of Full, similar class clustering, 10 attributes</a:t>
            </a:r>
            <a:endParaRPr lang="en-US" dirty="0"/>
          </a:p>
          <a:p>
            <a:pPr lvl="0"/>
            <a:r>
              <a:rPr lang="en-US" dirty="0"/>
              <a:t>Calculated </a:t>
            </a:r>
            <a:r>
              <a:rPr lang="en-US" dirty="0" smtClean="0"/>
              <a:t>the accuracy of each attribute individually to find strongest or potentially “tell-all” attributes</a:t>
            </a:r>
            <a:endParaRPr lang="en-US" dirty="0"/>
          </a:p>
          <a:p>
            <a:pPr marL="0" lv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232414730"/>
              </p:ext>
            </p:extLst>
          </p:nvPr>
        </p:nvGraphicFramePr>
        <p:xfrm>
          <a:off x="107505" y="3140968"/>
          <a:ext cx="4032450" cy="2376260"/>
        </p:xfrm>
        <a:graphic>
          <a:graphicData uri="http://schemas.openxmlformats.org/drawingml/2006/table">
            <a:tbl>
              <a:tblPr/>
              <a:tblGrid>
                <a:gridCol w="806490"/>
                <a:gridCol w="806490"/>
                <a:gridCol w="806490"/>
                <a:gridCol w="806490"/>
                <a:gridCol w="806490"/>
              </a:tblGrid>
              <a:tr h="237626">
                <a:tc>
                  <a:txBody>
                    <a:bodyPr/>
                    <a:lstStyle/>
                    <a:p>
                      <a:pPr algn="l" fontAlgn="b"/>
                      <a:r>
                        <a:rPr lang="en-US" sz="1200" b="1" i="0" u="none" strike="noStrike">
                          <a:solidFill>
                            <a:srgbClr val="000000"/>
                          </a:solidFill>
                          <a:effectLst/>
                          <a:latin typeface="Calibri"/>
                        </a:rPr>
                        <a:t>SUBSET</a:t>
                      </a:r>
                    </a:p>
                  </a:txBody>
                  <a:tcPr marL="12700" marR="12700" marT="12700" marB="0" anchor="b">
                    <a:lnL>
                      <a:noFill/>
                    </a:lnL>
                    <a:lnR>
                      <a:noFill/>
                    </a:lnR>
                    <a:lnT>
                      <a:noFill/>
                    </a:lnT>
                    <a:lnB>
                      <a:noFill/>
                    </a:lnB>
                  </a:tcPr>
                </a:tc>
                <a:tc>
                  <a:txBody>
                    <a:bodyPr/>
                    <a:lstStyle/>
                    <a:p>
                      <a:pPr algn="l" fontAlgn="b"/>
                      <a:r>
                        <a:rPr lang="en-US" sz="1200" b="1" i="0" u="none" strike="noStrike">
                          <a:solidFill>
                            <a:srgbClr val="000000"/>
                          </a:solidFill>
                          <a:effectLst/>
                          <a:latin typeface="Calibri"/>
                        </a:rPr>
                        <a:t>J48</a:t>
                      </a:r>
                    </a:p>
                  </a:txBody>
                  <a:tcPr marL="12700" marR="12700" marT="12700" marB="0" anchor="b">
                    <a:lnL>
                      <a:noFill/>
                    </a:lnL>
                    <a:lnR>
                      <a:noFill/>
                    </a:lnR>
                    <a:lnT>
                      <a:noFill/>
                    </a:lnT>
                    <a:lnB>
                      <a:noFill/>
                    </a:lnB>
                  </a:tcPr>
                </a:tc>
                <a:tc>
                  <a:txBody>
                    <a:bodyPr/>
                    <a:lstStyle/>
                    <a:p>
                      <a:pPr algn="l" fontAlgn="b"/>
                      <a:r>
                        <a:rPr lang="en-US" sz="1200" b="1" i="0" u="none" strike="noStrike">
                          <a:solidFill>
                            <a:srgbClr val="000000"/>
                          </a:solidFill>
                          <a:effectLst/>
                          <a:latin typeface="Calibri"/>
                        </a:rPr>
                        <a:t>Naïve Bayes</a:t>
                      </a:r>
                    </a:p>
                  </a:txBody>
                  <a:tcPr marL="12700" marR="12700" marT="12700" marB="0" anchor="b">
                    <a:lnL>
                      <a:noFill/>
                    </a:lnL>
                    <a:lnR>
                      <a:noFill/>
                    </a:lnR>
                    <a:lnT>
                      <a:noFill/>
                    </a:lnT>
                    <a:lnB>
                      <a:noFill/>
                    </a:lnB>
                  </a:tcPr>
                </a:tc>
                <a:tc>
                  <a:txBody>
                    <a:bodyPr/>
                    <a:lstStyle/>
                    <a:p>
                      <a:pPr algn="l" fontAlgn="b"/>
                      <a:r>
                        <a:rPr lang="en-US" sz="1200" b="1" i="0" u="none" strike="noStrike">
                          <a:solidFill>
                            <a:srgbClr val="000000"/>
                          </a:solidFill>
                          <a:effectLst/>
                          <a:latin typeface="Calibri"/>
                        </a:rPr>
                        <a:t>REPTree</a:t>
                      </a:r>
                    </a:p>
                  </a:txBody>
                  <a:tcPr marL="12700" marR="12700" marT="12700" marB="0" anchor="b">
                    <a:lnL>
                      <a:noFill/>
                    </a:lnL>
                    <a:lnR>
                      <a:noFill/>
                    </a:lnR>
                    <a:lnT>
                      <a:noFill/>
                    </a:lnT>
                    <a:lnB>
                      <a:noFill/>
                    </a:lnB>
                  </a:tcPr>
                </a:tc>
                <a:tc>
                  <a:txBody>
                    <a:bodyPr/>
                    <a:lstStyle/>
                    <a:p>
                      <a:pPr algn="l" fontAlgn="b"/>
                      <a:r>
                        <a:rPr lang="en-US" sz="1200" b="1" i="0" u="none" strike="noStrike">
                          <a:solidFill>
                            <a:srgbClr val="000000"/>
                          </a:solidFill>
                          <a:effectLst/>
                          <a:latin typeface="Calibri"/>
                        </a:rPr>
                        <a:t>Perceptron</a:t>
                      </a:r>
                    </a:p>
                  </a:txBody>
                  <a:tcPr marL="12700" marR="12700" marT="12700" marB="0" anchor="b">
                    <a:lnL>
                      <a:noFill/>
                    </a:lnL>
                    <a:lnR>
                      <a:noFill/>
                    </a:lnR>
                    <a:lnT>
                      <a:noFill/>
                    </a:lnT>
                    <a:lnB>
                      <a:noFill/>
                    </a:lnB>
                  </a:tcPr>
                </a:tc>
              </a:tr>
              <a:tr h="237626">
                <a:tc>
                  <a:txBody>
                    <a:bodyPr/>
                    <a:lstStyle/>
                    <a:p>
                      <a:pPr algn="l" fontAlgn="b"/>
                      <a:r>
                        <a:rPr lang="en-US" sz="1200" b="1" i="0" u="none" strike="noStrike">
                          <a:solidFill>
                            <a:srgbClr val="000000"/>
                          </a:solidFill>
                          <a:effectLst/>
                          <a:latin typeface="Calibri"/>
                        </a:rPr>
                        <a:t>GFAvg</a:t>
                      </a: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51.56%</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r>
              <a:tr h="237626">
                <a:tc>
                  <a:txBody>
                    <a:bodyPr/>
                    <a:lstStyle/>
                    <a:p>
                      <a:pPr algn="l" fontAlgn="b"/>
                      <a:r>
                        <a:rPr lang="en-US" sz="1200" b="1" i="0" u="none" strike="noStrike">
                          <a:solidFill>
                            <a:srgbClr val="000000"/>
                          </a:solidFill>
                          <a:effectLst/>
                          <a:latin typeface="Calibri"/>
                        </a:rPr>
                        <a:t>GAAvg</a:t>
                      </a: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60.94%</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60.94%</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53.13%</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r>
              <a:tr h="237626">
                <a:tc>
                  <a:txBody>
                    <a:bodyPr/>
                    <a:lstStyle/>
                    <a:p>
                      <a:pPr algn="l" fontAlgn="b"/>
                      <a:r>
                        <a:rPr lang="en-US" sz="1200" b="1" i="0" u="none" strike="noStrike">
                          <a:solidFill>
                            <a:srgbClr val="000000"/>
                          </a:solidFill>
                          <a:effectLst/>
                          <a:latin typeface="Calibri"/>
                        </a:rPr>
                        <a:t>Penalties</a:t>
                      </a: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44.53%</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r>
              <a:tr h="237626">
                <a:tc>
                  <a:txBody>
                    <a:bodyPr/>
                    <a:lstStyle/>
                    <a:p>
                      <a:pPr algn="l" fontAlgn="b"/>
                      <a:r>
                        <a:rPr lang="en-US" sz="1200" b="1" i="0" u="none" strike="noStrike">
                          <a:solidFill>
                            <a:srgbClr val="000000"/>
                          </a:solidFill>
                          <a:effectLst/>
                          <a:latin typeface="Calibri"/>
                        </a:rPr>
                        <a:t>ShotsOn</a:t>
                      </a: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62.5%</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50%</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r>
              <a:tr h="237626">
                <a:tc>
                  <a:txBody>
                    <a:bodyPr/>
                    <a:lstStyle/>
                    <a:p>
                      <a:pPr algn="l" fontAlgn="b"/>
                      <a:r>
                        <a:rPr lang="en-US" sz="1200" b="1" i="0" u="none" strike="noStrike">
                          <a:solidFill>
                            <a:srgbClr val="000000"/>
                          </a:solidFill>
                          <a:effectLst/>
                          <a:latin typeface="Calibri"/>
                        </a:rPr>
                        <a:t>ShotsWide</a:t>
                      </a: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61.72%</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63.285%</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47.66%</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r>
              <a:tr h="237626">
                <a:tc>
                  <a:txBody>
                    <a:bodyPr/>
                    <a:lstStyle/>
                    <a:p>
                      <a:pPr algn="l" fontAlgn="b"/>
                      <a:r>
                        <a:rPr lang="en-US" sz="1200" b="1" i="0" u="none" strike="noStrike">
                          <a:solidFill>
                            <a:srgbClr val="000000"/>
                          </a:solidFill>
                          <a:effectLst/>
                          <a:latin typeface="Calibri"/>
                        </a:rPr>
                        <a:t>FreeKicks</a:t>
                      </a: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60.94%</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46.87%</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r>
              <a:tr h="237626">
                <a:tc>
                  <a:txBody>
                    <a:bodyPr/>
                    <a:lstStyle/>
                    <a:p>
                      <a:pPr algn="l" fontAlgn="b"/>
                      <a:r>
                        <a:rPr lang="en-US" sz="1200" b="1" i="0" u="none" strike="noStrike">
                          <a:solidFill>
                            <a:srgbClr val="000000"/>
                          </a:solidFill>
                          <a:effectLst/>
                          <a:latin typeface="Calibri"/>
                        </a:rPr>
                        <a:t>Offside</a:t>
                      </a: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62.5%</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47.66%</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r>
              <a:tr h="237626">
                <a:tc>
                  <a:txBody>
                    <a:bodyPr/>
                    <a:lstStyle/>
                    <a:p>
                      <a:pPr algn="l" fontAlgn="b"/>
                      <a:r>
                        <a:rPr lang="en-US" sz="1200" b="1" i="0" u="none" strike="noStrike">
                          <a:solidFill>
                            <a:srgbClr val="000000"/>
                          </a:solidFill>
                          <a:effectLst/>
                          <a:latin typeface="Calibri"/>
                        </a:rPr>
                        <a:t>Corners</a:t>
                      </a: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60.16%</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63.28%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47.66%</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r>
              <a:tr h="237626">
                <a:tc>
                  <a:txBody>
                    <a:bodyPr/>
                    <a:lstStyle/>
                    <a:p>
                      <a:pPr algn="l" fontAlgn="b"/>
                      <a:r>
                        <a:rPr lang="en-US" sz="1200" b="1" i="0" u="none" strike="noStrike">
                          <a:solidFill>
                            <a:srgbClr val="000000"/>
                          </a:solidFill>
                          <a:effectLst/>
                          <a:latin typeface="Calibri"/>
                        </a:rPr>
                        <a:t>ALL</a:t>
                      </a:r>
                    </a:p>
                  </a:txBody>
                  <a:tcPr marL="12700" marR="12700" marT="12700" marB="0" anchor="b">
                    <a:lnL>
                      <a:noFill/>
                    </a:lnL>
                    <a:lnR>
                      <a:noFill/>
                    </a:lnR>
                    <a:lnT>
                      <a:noFill/>
                    </a:lnT>
                    <a:lnB>
                      <a:noFill/>
                    </a:lnB>
                  </a:tcPr>
                </a:tc>
                <a:tc>
                  <a:txBody>
                    <a:bodyPr/>
                    <a:lstStyle/>
                    <a:p>
                      <a:pPr algn="r" fontAlgn="b"/>
                      <a:r>
                        <a:rPr lang="en-US" sz="1200" b="1" i="0" u="none" strike="noStrike" dirty="0" smtClean="0">
                          <a:solidFill>
                            <a:srgbClr val="000000"/>
                          </a:solidFill>
                          <a:effectLst/>
                          <a:latin typeface="Calibri"/>
                        </a:rPr>
                        <a:t>60.94%</a:t>
                      </a:r>
                      <a:endParaRPr lang="en-US" sz="1200" b="1"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1" i="0" u="none" strike="noStrike" dirty="0" smtClean="0">
                          <a:solidFill>
                            <a:srgbClr val="000000"/>
                          </a:solidFill>
                          <a:effectLst/>
                          <a:latin typeface="Calibri"/>
                        </a:rPr>
                        <a:t>59.38%</a:t>
                      </a:r>
                      <a:endParaRPr lang="en-US" sz="1200" b="1"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1" i="0" u="none" strike="noStrike" dirty="0" smtClean="0">
                          <a:solidFill>
                            <a:srgbClr val="000000"/>
                          </a:solidFill>
                          <a:effectLst/>
                          <a:latin typeface="Calibri"/>
                        </a:rPr>
                        <a:t>63.28%</a:t>
                      </a:r>
                      <a:endParaRPr lang="en-US" sz="1200" b="1"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1" i="0" u="none" strike="noStrike" dirty="0" smtClean="0">
                          <a:solidFill>
                            <a:srgbClr val="000000"/>
                          </a:solidFill>
                          <a:effectLst/>
                          <a:latin typeface="Calibri"/>
                        </a:rPr>
                        <a:t>51.56%</a:t>
                      </a:r>
                      <a:endParaRPr lang="en-US" sz="1200" b="1" i="0" u="none" strike="noStrike" dirty="0">
                        <a:solidFill>
                          <a:srgbClr val="000000"/>
                        </a:solidFill>
                        <a:effectLst/>
                        <a:latin typeface="Calibri"/>
                      </a:endParaRPr>
                    </a:p>
                  </a:txBody>
                  <a:tcPr marL="12700" marR="12700" marT="12700" marB="0" anchor="b">
                    <a:lnL>
                      <a:noFill/>
                    </a:lnL>
                    <a:lnR>
                      <a:noFill/>
                    </a:lnR>
                    <a:lnT>
                      <a:noFill/>
                    </a:lnT>
                    <a:lnB>
                      <a:noFill/>
                    </a:lnB>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498794861"/>
              </p:ext>
            </p:extLst>
          </p:nvPr>
        </p:nvGraphicFramePr>
        <p:xfrm>
          <a:off x="4572001" y="2996952"/>
          <a:ext cx="4104455" cy="1368152"/>
        </p:xfrm>
        <a:graphic>
          <a:graphicData uri="http://schemas.openxmlformats.org/drawingml/2006/table">
            <a:tbl>
              <a:tblPr/>
              <a:tblGrid>
                <a:gridCol w="820891"/>
                <a:gridCol w="820891"/>
                <a:gridCol w="820891"/>
                <a:gridCol w="820891"/>
                <a:gridCol w="820891"/>
              </a:tblGrid>
              <a:tr h="342038">
                <a:tc>
                  <a:txBody>
                    <a:bodyPr/>
                    <a:lstStyle/>
                    <a:p>
                      <a:pPr algn="l" fontAlgn="b"/>
                      <a:r>
                        <a:rPr lang="en-US" sz="1200" b="1" i="0" u="none" strike="noStrike" dirty="0">
                          <a:solidFill>
                            <a:srgbClr val="000000"/>
                          </a:solidFill>
                          <a:effectLst/>
                          <a:latin typeface="Calibri"/>
                        </a:rPr>
                        <a:t>FULLSET</a:t>
                      </a:r>
                    </a:p>
                  </a:txBody>
                  <a:tcPr marL="12700" marR="12700" marT="12700" marB="0" anchor="b">
                    <a:lnL>
                      <a:noFill/>
                    </a:lnL>
                    <a:lnR>
                      <a:noFill/>
                    </a:lnR>
                    <a:lnT>
                      <a:noFill/>
                    </a:lnT>
                    <a:lnB>
                      <a:noFill/>
                    </a:lnB>
                  </a:tcPr>
                </a:tc>
                <a:tc>
                  <a:txBody>
                    <a:bodyPr/>
                    <a:lstStyle/>
                    <a:p>
                      <a:pPr algn="l" fontAlgn="b"/>
                      <a:r>
                        <a:rPr lang="en-US" sz="1200" b="1" i="0" u="none" strike="noStrike">
                          <a:solidFill>
                            <a:srgbClr val="000000"/>
                          </a:solidFill>
                          <a:effectLst/>
                          <a:latin typeface="Calibri"/>
                        </a:rPr>
                        <a:t>J48</a:t>
                      </a:r>
                    </a:p>
                  </a:txBody>
                  <a:tcPr marL="12700" marR="12700" marT="12700" marB="0" anchor="b">
                    <a:lnL>
                      <a:noFill/>
                    </a:lnL>
                    <a:lnR>
                      <a:noFill/>
                    </a:lnR>
                    <a:lnT>
                      <a:noFill/>
                    </a:lnT>
                    <a:lnB>
                      <a:noFill/>
                    </a:lnB>
                  </a:tcPr>
                </a:tc>
                <a:tc>
                  <a:txBody>
                    <a:bodyPr/>
                    <a:lstStyle/>
                    <a:p>
                      <a:pPr algn="l" fontAlgn="b"/>
                      <a:r>
                        <a:rPr lang="en-US" sz="1200" b="1" i="0" u="none" strike="noStrike">
                          <a:solidFill>
                            <a:srgbClr val="000000"/>
                          </a:solidFill>
                          <a:effectLst/>
                          <a:latin typeface="Calibri"/>
                        </a:rPr>
                        <a:t>Naïve Bayes</a:t>
                      </a:r>
                    </a:p>
                  </a:txBody>
                  <a:tcPr marL="12700" marR="12700" marT="12700" marB="0" anchor="b">
                    <a:lnL>
                      <a:noFill/>
                    </a:lnL>
                    <a:lnR>
                      <a:noFill/>
                    </a:lnR>
                    <a:lnT>
                      <a:noFill/>
                    </a:lnT>
                    <a:lnB>
                      <a:noFill/>
                    </a:lnB>
                  </a:tcPr>
                </a:tc>
                <a:tc>
                  <a:txBody>
                    <a:bodyPr/>
                    <a:lstStyle/>
                    <a:p>
                      <a:pPr algn="l" fontAlgn="b"/>
                      <a:r>
                        <a:rPr lang="en-US" sz="1200" b="1" i="0" u="none" strike="noStrike">
                          <a:solidFill>
                            <a:srgbClr val="000000"/>
                          </a:solidFill>
                          <a:effectLst/>
                          <a:latin typeface="Calibri"/>
                        </a:rPr>
                        <a:t>REPTree</a:t>
                      </a:r>
                    </a:p>
                  </a:txBody>
                  <a:tcPr marL="12700" marR="12700" marT="12700" marB="0" anchor="b">
                    <a:lnL>
                      <a:noFill/>
                    </a:lnL>
                    <a:lnR>
                      <a:noFill/>
                    </a:lnR>
                    <a:lnT>
                      <a:noFill/>
                    </a:lnT>
                    <a:lnB>
                      <a:noFill/>
                    </a:lnB>
                  </a:tcPr>
                </a:tc>
                <a:tc>
                  <a:txBody>
                    <a:bodyPr/>
                    <a:lstStyle/>
                    <a:p>
                      <a:pPr algn="l" fontAlgn="b"/>
                      <a:r>
                        <a:rPr lang="en-US" sz="1200" b="1" i="0" u="none" strike="noStrike">
                          <a:solidFill>
                            <a:srgbClr val="000000"/>
                          </a:solidFill>
                          <a:effectLst/>
                          <a:latin typeface="Calibri"/>
                        </a:rPr>
                        <a:t>Perceptron</a:t>
                      </a:r>
                    </a:p>
                  </a:txBody>
                  <a:tcPr marL="12700" marR="12700" marT="12700" marB="0" anchor="b">
                    <a:lnL>
                      <a:noFill/>
                    </a:lnL>
                    <a:lnR>
                      <a:noFill/>
                    </a:lnR>
                    <a:lnT>
                      <a:noFill/>
                    </a:lnT>
                    <a:lnB>
                      <a:noFill/>
                    </a:lnB>
                  </a:tcPr>
                </a:tc>
              </a:tr>
              <a:tr h="342038">
                <a:tc>
                  <a:txBody>
                    <a:bodyPr/>
                    <a:lstStyle/>
                    <a:p>
                      <a:pPr algn="l" fontAlgn="b"/>
                      <a:r>
                        <a:rPr lang="en-US" sz="1200" b="1" i="0" u="none" strike="noStrike">
                          <a:solidFill>
                            <a:srgbClr val="000000"/>
                          </a:solidFill>
                          <a:effectLst/>
                          <a:latin typeface="Calibri"/>
                        </a:rPr>
                        <a:t>Corners</a:t>
                      </a: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43.29%</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48.71%</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45.18%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41.88%</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r>
              <a:tr h="342038">
                <a:tc>
                  <a:txBody>
                    <a:bodyPr/>
                    <a:lstStyle/>
                    <a:p>
                      <a:pPr algn="l" fontAlgn="b"/>
                      <a:r>
                        <a:rPr lang="en-US" sz="1200" b="1" i="0" u="none" strike="noStrike">
                          <a:solidFill>
                            <a:srgbClr val="000000"/>
                          </a:solidFill>
                          <a:effectLst/>
                          <a:latin typeface="Calibri"/>
                        </a:rPr>
                        <a:t>GAAvg</a:t>
                      </a: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43.29%</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49.41%</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46.35%</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0" i="0" u="none" strike="noStrike" dirty="0" smtClean="0">
                          <a:solidFill>
                            <a:srgbClr val="000000"/>
                          </a:solidFill>
                          <a:effectLst/>
                          <a:latin typeface="Calibri"/>
                        </a:rPr>
                        <a:t>43.29%</a:t>
                      </a:r>
                      <a:endParaRPr lang="en-US" sz="1200" b="0" i="0" u="none" strike="noStrike" dirty="0">
                        <a:solidFill>
                          <a:srgbClr val="000000"/>
                        </a:solidFill>
                        <a:effectLst/>
                        <a:latin typeface="Calibri"/>
                      </a:endParaRPr>
                    </a:p>
                  </a:txBody>
                  <a:tcPr marL="12700" marR="12700" marT="12700" marB="0" anchor="b">
                    <a:lnL>
                      <a:noFill/>
                    </a:lnL>
                    <a:lnR>
                      <a:noFill/>
                    </a:lnR>
                    <a:lnT>
                      <a:noFill/>
                    </a:lnT>
                    <a:lnB>
                      <a:noFill/>
                    </a:lnB>
                  </a:tcPr>
                </a:tc>
              </a:tr>
              <a:tr h="342038">
                <a:tc>
                  <a:txBody>
                    <a:bodyPr/>
                    <a:lstStyle/>
                    <a:p>
                      <a:pPr algn="l" fontAlgn="b"/>
                      <a:r>
                        <a:rPr lang="en-US" sz="1200" b="1" i="0" u="none" strike="noStrike">
                          <a:solidFill>
                            <a:srgbClr val="000000"/>
                          </a:solidFill>
                          <a:effectLst/>
                          <a:latin typeface="Calibri"/>
                        </a:rPr>
                        <a:t>ALL</a:t>
                      </a:r>
                    </a:p>
                  </a:txBody>
                  <a:tcPr marL="12700" marR="12700" marT="12700" marB="0" anchor="b">
                    <a:lnL>
                      <a:noFill/>
                    </a:lnL>
                    <a:lnR>
                      <a:noFill/>
                    </a:lnR>
                    <a:lnT>
                      <a:noFill/>
                    </a:lnT>
                    <a:lnB>
                      <a:noFill/>
                    </a:lnB>
                  </a:tcPr>
                </a:tc>
                <a:tc>
                  <a:txBody>
                    <a:bodyPr/>
                    <a:lstStyle/>
                    <a:p>
                      <a:pPr algn="r" fontAlgn="b"/>
                      <a:r>
                        <a:rPr lang="en-US" sz="1200" b="1" i="0" u="none" strike="noStrike" dirty="0" smtClean="0">
                          <a:solidFill>
                            <a:srgbClr val="000000"/>
                          </a:solidFill>
                          <a:effectLst/>
                          <a:latin typeface="Calibri"/>
                        </a:rPr>
                        <a:t>42.82%</a:t>
                      </a:r>
                      <a:endParaRPr lang="en-US" sz="1200" b="1"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1" i="0" u="none" strike="noStrike" dirty="0" smtClean="0">
                          <a:solidFill>
                            <a:srgbClr val="000000"/>
                          </a:solidFill>
                          <a:effectLst/>
                          <a:latin typeface="Calibri"/>
                        </a:rPr>
                        <a:t>48.94%</a:t>
                      </a:r>
                      <a:endParaRPr lang="en-US" sz="1200" b="1"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1" i="0" u="none" strike="noStrike" dirty="0" smtClean="0">
                          <a:solidFill>
                            <a:srgbClr val="000000"/>
                          </a:solidFill>
                          <a:effectLst/>
                          <a:latin typeface="Calibri"/>
                        </a:rPr>
                        <a:t>46.12%</a:t>
                      </a:r>
                      <a:endParaRPr lang="en-US" sz="1200" b="1" i="0" u="none" strike="noStrike" dirty="0">
                        <a:solidFill>
                          <a:srgbClr val="000000"/>
                        </a:solidFill>
                        <a:effectLst/>
                        <a:latin typeface="Calibri"/>
                      </a:endParaRPr>
                    </a:p>
                  </a:txBody>
                  <a:tcPr marL="12700" marR="12700" marT="12700" marB="0" anchor="b">
                    <a:lnL>
                      <a:noFill/>
                    </a:lnL>
                    <a:lnR>
                      <a:noFill/>
                    </a:lnR>
                    <a:lnT>
                      <a:noFill/>
                    </a:lnT>
                    <a:lnB>
                      <a:noFill/>
                    </a:lnB>
                  </a:tcPr>
                </a:tc>
                <a:tc>
                  <a:txBody>
                    <a:bodyPr/>
                    <a:lstStyle/>
                    <a:p>
                      <a:pPr algn="r" fontAlgn="b"/>
                      <a:r>
                        <a:rPr lang="en-US" sz="1200" b="1" i="0" u="none" strike="noStrike" dirty="0" smtClean="0">
                          <a:solidFill>
                            <a:srgbClr val="000000"/>
                          </a:solidFill>
                          <a:effectLst/>
                          <a:latin typeface="Calibri"/>
                        </a:rPr>
                        <a:t>40.47%</a:t>
                      </a:r>
                      <a:endParaRPr lang="en-US" sz="1200" b="1" i="0" u="none" strike="noStrike" dirty="0">
                        <a:solidFill>
                          <a:srgbClr val="000000"/>
                        </a:solidFill>
                        <a:effectLst/>
                        <a:latin typeface="Calibri"/>
                      </a:endParaRPr>
                    </a:p>
                  </a:txBody>
                  <a:tcPr marL="12700" marR="12700" marT="12700" marB="0" anchor="b">
                    <a:lnL>
                      <a:noFill/>
                    </a:lnL>
                    <a:lnR>
                      <a:noFill/>
                    </a:lnR>
                    <a:lnT>
                      <a:noFill/>
                    </a:lnT>
                    <a:lnB>
                      <a:noFill/>
                    </a:lnB>
                  </a:tcPr>
                </a:tc>
              </a:tr>
            </a:tbl>
          </a:graphicData>
        </a:graphic>
      </p:graphicFrame>
    </p:spTree>
    <p:extLst>
      <p:ext uri="{BB962C8B-B14F-4D97-AF65-F5344CB8AC3E}">
        <p14:creationId xmlns:p14="http://schemas.microsoft.com/office/powerpoint/2010/main" val="462420203"/>
      </p:ext>
    </p:extLst>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p:cNvGraphicFramePr>
            <a:graphicFrameLocks/>
          </p:cNvGraphicFramePr>
          <p:nvPr>
            <p:extLst>
              <p:ext uri="{D42A27DB-BD31-4B8C-83A1-F6EECF244321}">
                <p14:modId xmlns:p14="http://schemas.microsoft.com/office/powerpoint/2010/main" val="1304359663"/>
              </p:ext>
            </p:extLst>
          </p:nvPr>
        </p:nvGraphicFramePr>
        <p:xfrm>
          <a:off x="467544" y="260648"/>
          <a:ext cx="8064896" cy="352839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a:graphicFrameLocks/>
          </p:cNvGraphicFramePr>
          <p:nvPr>
            <p:extLst>
              <p:ext uri="{D42A27DB-BD31-4B8C-83A1-F6EECF244321}">
                <p14:modId xmlns:p14="http://schemas.microsoft.com/office/powerpoint/2010/main" val="3473930213"/>
              </p:ext>
            </p:extLst>
          </p:nvPr>
        </p:nvGraphicFramePr>
        <p:xfrm>
          <a:off x="539552" y="3861048"/>
          <a:ext cx="792088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13743361"/>
      </p:ext>
    </p:extLst>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30188"/>
            <a:ext cx="8382000" cy="1163395"/>
          </a:xfrm>
        </p:spPr>
        <p:txBody>
          <a:bodyPr>
            <a:normAutofit fontScale="90000"/>
          </a:bodyPr>
          <a:lstStyle/>
          <a:p>
            <a:r>
              <a:rPr lang="en-US" dirty="0" smtClean="0"/>
              <a:t>Moving Forward</a:t>
            </a:r>
            <a:r>
              <a:rPr lang="en-US" dirty="0"/>
              <a:t/>
            </a:r>
            <a:br>
              <a:rPr lang="en-US" dirty="0"/>
            </a:br>
            <a:r>
              <a:rPr lang="en-US" dirty="0"/>
              <a:t/>
            </a:r>
            <a:br>
              <a:rPr lang="en-US" dirty="0"/>
            </a:br>
            <a:endParaRPr lang="en-US" dirty="0">
              <a:solidFill>
                <a:schemeClr val="accent2"/>
              </a:solidFill>
            </a:endParaRPr>
          </a:p>
        </p:txBody>
      </p:sp>
      <p:sp>
        <p:nvSpPr>
          <p:cNvPr id="3" name="Text Placeholder 2"/>
          <p:cNvSpPr>
            <a:spLocks noGrp="1"/>
          </p:cNvSpPr>
          <p:nvPr>
            <p:ph type="body" sz="quarter" idx="10"/>
          </p:nvPr>
        </p:nvSpPr>
        <p:spPr>
          <a:xfrm>
            <a:off x="345831" y="1403984"/>
            <a:ext cx="8382000" cy="4608512"/>
          </a:xfrm>
        </p:spPr>
        <p:txBody>
          <a:bodyPr>
            <a:normAutofit/>
          </a:bodyPr>
          <a:lstStyle/>
          <a:p>
            <a:pPr lvl="0">
              <a:buFont typeface="Arial" panose="020B0604020202020204" pitchFamily="34" charset="0"/>
              <a:buChar char="•"/>
            </a:pPr>
            <a:r>
              <a:rPr lang="en-US" dirty="0" smtClean="0"/>
              <a:t>Gather more attributes</a:t>
            </a:r>
          </a:p>
          <a:p>
            <a:pPr lvl="0">
              <a:buFont typeface="Arial" panose="020B0604020202020204" pitchFamily="34" charset="0"/>
              <a:buChar char="•"/>
            </a:pPr>
            <a:r>
              <a:rPr lang="en-US" dirty="0" smtClean="0"/>
              <a:t>Test run algorithm on 2018 world cup, after group stage is complete</a:t>
            </a:r>
          </a:p>
          <a:p>
            <a:pPr lvl="1">
              <a:buFont typeface="Arial" panose="020B0604020202020204" pitchFamily="34" charset="0"/>
              <a:buChar char="•"/>
            </a:pPr>
            <a:r>
              <a:rPr lang="en-US" dirty="0" smtClean="0"/>
              <a:t>Place bet</a:t>
            </a:r>
          </a:p>
          <a:p>
            <a:pPr lvl="1">
              <a:buFont typeface="Arial" panose="020B0604020202020204" pitchFamily="34" charset="0"/>
              <a:buChar char="•"/>
            </a:pPr>
            <a:r>
              <a:rPr lang="en-US" dirty="0" smtClean="0"/>
              <a:t>Make money</a:t>
            </a:r>
            <a:endParaRPr lang="en-US" dirty="0"/>
          </a:p>
        </p:txBody>
      </p:sp>
    </p:spTree>
    <p:extLst>
      <p:ext uri="{BB962C8B-B14F-4D97-AF65-F5344CB8AC3E}">
        <p14:creationId xmlns:p14="http://schemas.microsoft.com/office/powerpoint/2010/main" val="1570271088"/>
      </p:ext>
    </p:extLst>
  </p:cSld>
  <p:clrMapOvr>
    <a:masterClrMapping/>
  </p:clrMapOvr>
  <p:transition xmlns:p14="http://schemas.microsoft.com/office/powerpoint/2010/main">
    <p:fade/>
  </p:transition>
  <p:timing>
    <p:tnLst>
      <p:par>
        <p:cTn xmlns:p14="http://schemas.microsoft.com/office/powerpoint/2010/main" id="1" dur="indefinite" restart="never" nodeType="tmRoot"/>
      </p:par>
    </p:tnLst>
  </p:timing>
</p:sld>
</file>

<file path=ppt/theme/theme1.xml><?xml version="1.0" encoding="utf-8"?>
<a:theme xmlns:a="http://schemas.openxmlformats.org/drawingml/2006/main" name="1_Light Grey Segoe 4X3">
  <a:themeElements>
    <a:clrScheme name="5-00332 CSO Summit 2008">
      <a:dk1>
        <a:srgbClr val="000000"/>
      </a:dk1>
      <a:lt1>
        <a:srgbClr val="FFFFFF"/>
      </a:lt1>
      <a:dk2>
        <a:srgbClr val="050595"/>
      </a:dk2>
      <a:lt2>
        <a:srgbClr val="FFFF99"/>
      </a:lt2>
      <a:accent1>
        <a:srgbClr val="ECDFA7"/>
      </a:accent1>
      <a:accent2>
        <a:srgbClr val="4F6E9B"/>
      </a:accent2>
      <a:accent3>
        <a:srgbClr val="936553"/>
      </a:accent3>
      <a:accent4>
        <a:srgbClr val="88A17B"/>
      </a:accent4>
      <a:accent5>
        <a:srgbClr val="B8977E"/>
      </a:accent5>
      <a:accent6>
        <a:srgbClr val="99B5D3"/>
      </a:accent6>
      <a:hlink>
        <a:srgbClr val="050595"/>
      </a:hlink>
      <a:folHlink>
        <a:srgbClr val="7DDD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4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txDef>
      <a:spPr>
        <a:noFill/>
      </a:spPr>
      <a:bodyPr wrap="none" rtlCol="0">
        <a:spAutoFit/>
      </a:bodyPr>
      <a:lstStyle>
        <a:defPPr>
          <a:defRPr dirty="0" err="1" smtClean="0">
            <a:solidFill>
              <a:schemeClr val="bg1"/>
            </a:solidFill>
          </a:defRPr>
        </a:defPPr>
      </a:lstStyle>
    </a:txDef>
  </a:objectDefaults>
  <a:extraClrSchemeLst/>
</a:theme>
</file>

<file path=ppt/theme/theme2.xml><?xml version="1.0" encoding="utf-8"?>
<a:theme xmlns:a="http://schemas.openxmlformats.org/drawingml/2006/main" name="White with Courier font for code slides">
  <a:themeElements>
    <a:clrScheme name="5-00332 CSO Summit 2008">
      <a:dk1>
        <a:srgbClr val="000000"/>
      </a:dk1>
      <a:lt1>
        <a:srgbClr val="FFFFFF"/>
      </a:lt1>
      <a:dk2>
        <a:srgbClr val="050595"/>
      </a:dk2>
      <a:lt2>
        <a:srgbClr val="FFFF99"/>
      </a:lt2>
      <a:accent1>
        <a:srgbClr val="ECDFA7"/>
      </a:accent1>
      <a:accent2>
        <a:srgbClr val="4F6E9B"/>
      </a:accent2>
      <a:accent3>
        <a:srgbClr val="936553"/>
      </a:accent3>
      <a:accent4>
        <a:srgbClr val="88A17B"/>
      </a:accent4>
      <a:accent5>
        <a:srgbClr val="B8977E"/>
      </a:accent5>
      <a:accent6>
        <a:srgbClr val="99B5D3"/>
      </a:accent6>
      <a:hlink>
        <a:srgbClr val="F3EB4F"/>
      </a:hlink>
      <a:folHlink>
        <a:srgbClr val="7DDD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109728" tIns="54864" rIns="109728" bIns="54864" numCol="1" rtlCol="0" anchor="ctr" anchorCtr="0" compatLnSpc="1">
        <a:prstTxWarp prst="textNoShape">
          <a:avLst/>
        </a:prstTxWarp>
      </a:bodyPr>
      <a:lstStyle>
        <a:defPPr marL="0" marR="0" indent="0" algn="ctr" defTabSz="1096963" rtl="0" eaLnBrk="1" fontAlgn="base" latinLnBrk="0" hangingPunct="1">
          <a:lnSpc>
            <a:spcPct val="100000"/>
          </a:lnSpc>
          <a:spcBef>
            <a:spcPct val="0"/>
          </a:spcBef>
          <a:spcAft>
            <a:spcPct val="0"/>
          </a:spcAft>
          <a:buClrTx/>
          <a:buSzTx/>
          <a:buFontTx/>
          <a:buNone/>
          <a:tabLst/>
          <a:defRPr kumimoji="0" sz="2800" b="0" i="0" u="none" strike="noStrike" cap="none" normalizeH="0" baseline="0" dirty="0" smtClean="0">
            <a:solidFill>
              <a:schemeClr val="tx1"/>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9CA227CC-187E-49A8-8CC3-1CC75B02693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1_Light Grey Segoe 4X3</Template>
  <TotalTime>133</TotalTime>
  <Words>1460</Words>
  <Application>Microsoft Macintosh PowerPoint</Application>
  <PresentationFormat>On-screen Show (4:3)</PresentationFormat>
  <Paragraphs>249</Paragraphs>
  <Slides>9</Slides>
  <Notes>8</Notes>
  <HiddenSlides>0</HiddenSlides>
  <MMClips>0</MMClips>
  <ScaleCrop>false</ScaleCrop>
  <HeadingPairs>
    <vt:vector size="4" baseType="variant">
      <vt:variant>
        <vt:lpstr>Theme</vt:lpstr>
      </vt:variant>
      <vt:variant>
        <vt:i4>2</vt:i4>
      </vt:variant>
      <vt:variant>
        <vt:lpstr>Slide Titles</vt:lpstr>
      </vt:variant>
      <vt:variant>
        <vt:i4>9</vt:i4>
      </vt:variant>
    </vt:vector>
  </HeadingPairs>
  <TitlesOfParts>
    <vt:vector size="11" baseType="lpstr">
      <vt:lpstr>1_Light Grey Segoe 4X3</vt:lpstr>
      <vt:lpstr>White with Courier font for code slides</vt:lpstr>
      <vt:lpstr>FIFA World Cup </vt:lpstr>
      <vt:lpstr>What We Looked At</vt:lpstr>
      <vt:lpstr>Data Gathering </vt:lpstr>
      <vt:lpstr>Pre-processing </vt:lpstr>
      <vt:lpstr>Data Mining   </vt:lpstr>
      <vt:lpstr>PowerPoint Presentation</vt:lpstr>
      <vt:lpstr>Data Mining   </vt:lpstr>
      <vt:lpstr>PowerPoint Presentation</vt:lpstr>
      <vt:lpstr>Moving Forward  </vt:lpstr>
    </vt:vector>
  </TitlesOfParts>
  <Company>University of Victoria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 Cup</dc:title>
  <dc:creator>Test generic student</dc:creator>
  <cp:lastModifiedBy>Adar Guy</cp:lastModifiedBy>
  <cp:revision>10</cp:revision>
  <dcterms:created xsi:type="dcterms:W3CDTF">2015-04-02T21:32:30Z</dcterms:created>
  <dcterms:modified xsi:type="dcterms:W3CDTF">2015-04-02T23:47:47Z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TC102867549990</vt:lpwstr>
  </property>
</Properties>
</file>